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2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72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5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1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40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1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24" Type="http://schemas.openxmlformats.org/officeDocument/2006/relationships/image" Target="../media/image91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40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1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9" Type="http://schemas.openxmlformats.org/officeDocument/2006/relationships/image" Target="../media/image140.png"/><Relationship Id="rId21" Type="http://schemas.openxmlformats.org/officeDocument/2006/relationships/image" Target="../media/image122.png"/><Relationship Id="rId34" Type="http://schemas.openxmlformats.org/officeDocument/2006/relationships/image" Target="../media/image135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29" Type="http://schemas.openxmlformats.org/officeDocument/2006/relationships/image" Target="../media/image130.png"/><Relationship Id="rId41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32" Type="http://schemas.openxmlformats.org/officeDocument/2006/relationships/image" Target="../media/image133.png"/><Relationship Id="rId37" Type="http://schemas.openxmlformats.org/officeDocument/2006/relationships/image" Target="../media/image138.png"/><Relationship Id="rId40" Type="http://schemas.openxmlformats.org/officeDocument/2006/relationships/image" Target="../media/image141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28" Type="http://schemas.openxmlformats.org/officeDocument/2006/relationships/image" Target="../media/image129.png"/><Relationship Id="rId36" Type="http://schemas.openxmlformats.org/officeDocument/2006/relationships/image" Target="../media/image137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31" Type="http://schemas.openxmlformats.org/officeDocument/2006/relationships/image" Target="../media/image132.png"/><Relationship Id="rId4" Type="http://schemas.openxmlformats.org/officeDocument/2006/relationships/image" Target="../media/image14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png"/><Relationship Id="rId30" Type="http://schemas.openxmlformats.org/officeDocument/2006/relationships/image" Target="../media/image131.png"/><Relationship Id="rId35" Type="http://schemas.openxmlformats.org/officeDocument/2006/relationships/image" Target="../media/image136.png"/><Relationship Id="rId8" Type="http://schemas.openxmlformats.org/officeDocument/2006/relationships/image" Target="../media/image109.png"/><Relationship Id="rId3" Type="http://schemas.openxmlformats.org/officeDocument/2006/relationships/image" Target="../media/image1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33" Type="http://schemas.openxmlformats.org/officeDocument/2006/relationships/image" Target="../media/image134.png"/><Relationship Id="rId38" Type="http://schemas.openxmlformats.org/officeDocument/2006/relationships/image" Target="../media/image1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-300001">
            <a:off x="600075" y="2124075"/>
            <a:ext cx="4610100" cy="461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-480000">
            <a:off x="7743825" y="1133475"/>
            <a:ext cx="4448175" cy="4591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4808" y="4119563"/>
            <a:ext cx="2486025" cy="14763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57200" y="381000"/>
            <a:ext cx="112776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Chocolate BI</a:t>
            </a:r>
            <a:endParaRPr lang="en-US" sz="8500" dirty="0"/>
          </a:p>
        </p:txBody>
      </p:sp>
      <p:sp>
        <p:nvSpPr>
          <p:cNvPr id="10" name="Text 1"/>
          <p:cNvSpPr/>
          <p:nvPr/>
        </p:nvSpPr>
        <p:spPr>
          <a:xfrm>
            <a:off x="1809750" y="1477417"/>
            <a:ext cx="8572500" cy="9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Chocolate Sales Performance Analysis &amp; Business Intelligence</a:t>
            </a:r>
            <a:endParaRPr lang="en-US" sz="3100" dirty="0"/>
          </a:p>
        </p:txBody>
      </p:sp>
      <p:sp>
        <p:nvSpPr>
          <p:cNvPr id="11" name="Text 2"/>
          <p:cNvSpPr/>
          <p:nvPr/>
        </p:nvSpPr>
        <p:spPr>
          <a:xfrm>
            <a:off x="10382250" y="4492482"/>
            <a:ext cx="11715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G-17</a:t>
            </a:r>
            <a:endParaRPr lang="en-US" sz="12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8300" y="2543176"/>
            <a:ext cx="6286500" cy="1304925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5629275" y="26860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Lead: </a:t>
            </a: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[Yashkumar Nimje]</a:t>
            </a:r>
            <a:endParaRPr lang="en-US" sz="900" dirty="0"/>
          </a:p>
        </p:txBody>
      </p:sp>
      <p:sp>
        <p:nvSpPr>
          <p:cNvPr id="14" name="Text 4"/>
          <p:cNvSpPr/>
          <p:nvPr/>
        </p:nvSpPr>
        <p:spPr>
          <a:xfrm>
            <a:off x="8753475" y="26860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Lead: </a:t>
            </a: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[Shane Joseph]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5629275" y="29146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Lead: </a:t>
            </a: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[Shivansh Upadhyay]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8753475" y="29146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 Lead: </a:t>
            </a: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[Saksham Narotra]</a:t>
            </a:r>
            <a:endParaRPr lang="en-US" sz="900" dirty="0"/>
          </a:p>
        </p:txBody>
      </p:sp>
      <p:sp>
        <p:nvSpPr>
          <p:cNvPr id="17" name="Text 7"/>
          <p:cNvSpPr/>
          <p:nvPr/>
        </p:nvSpPr>
        <p:spPr>
          <a:xfrm>
            <a:off x="5629275" y="31432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Lead: </a:t>
            </a: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[Manpreet Singh]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8753475" y="314325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 &amp; Quality Lead: </a:t>
            </a: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[Ashar Shaikh ]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0" y="3400425"/>
            <a:ext cx="5962650" cy="25717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629275" y="3448050"/>
            <a:ext cx="5943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 Mentor: [satyaki sir]</a:t>
            </a:r>
            <a:endParaRPr lang="en-US" sz="900" dirty="0"/>
          </a:p>
        </p:txBody>
      </p:sp>
      <p:sp>
        <p:nvSpPr>
          <p:cNvPr id="21" name="Text 10"/>
          <p:cNvSpPr/>
          <p:nvPr/>
        </p:nvSpPr>
        <p:spPr>
          <a:xfrm>
            <a:off x="457200" y="5867400"/>
            <a:ext cx="3132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Repository</a:t>
            </a:r>
            <a:endParaRPr lang="en-US" sz="800" dirty="0"/>
          </a:p>
        </p:txBody>
      </p:sp>
      <p:sp>
        <p:nvSpPr>
          <p:cNvPr id="22" name="Text 11"/>
          <p:cNvSpPr/>
          <p:nvPr/>
        </p:nvSpPr>
        <p:spPr>
          <a:xfrm>
            <a:off x="457200" y="6019800"/>
            <a:ext cx="31322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https://github.com/mansingh-04/SectionB_G-17_ChocolateSalesDataset</a:t>
            </a:r>
            <a:endParaRPr lang="en-US" sz="900" dirty="0"/>
          </a:p>
        </p:txBody>
      </p:sp>
      <p:sp>
        <p:nvSpPr>
          <p:cNvPr id="23" name="Text 12"/>
          <p:cNvSpPr/>
          <p:nvPr/>
        </p:nvSpPr>
        <p:spPr>
          <a:xfrm>
            <a:off x="4178945" y="5867400"/>
            <a:ext cx="7403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Dashboard</a:t>
            </a:r>
            <a:endParaRPr lang="en-US" sz="800" dirty="0"/>
          </a:p>
        </p:txBody>
      </p:sp>
      <p:sp>
        <p:nvSpPr>
          <p:cNvPr id="24" name="Text 13"/>
          <p:cNvSpPr/>
          <p:nvPr/>
        </p:nvSpPr>
        <p:spPr>
          <a:xfrm>
            <a:off x="4178945" y="6019800"/>
            <a:ext cx="74034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https://public.tableau.com/views/Chocolate_Sales_G17/SalesDashboard?:language=en-US&amp;publish=yes&amp;:sid=&amp;:redirect=auth&amp;:display_count=n&amp;:origin=viz_share_link</a:t>
            </a:r>
            <a:endParaRPr lang="en-US" sz="900" dirty="0"/>
          </a:p>
        </p:txBody>
      </p:sp>
      <p:sp>
        <p:nvSpPr>
          <p:cNvPr id="25" name="Text 14"/>
          <p:cNvSpPr/>
          <p:nvPr/>
        </p:nvSpPr>
        <p:spPr>
          <a:xfrm>
            <a:off x="11582400" y="603885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15"/>
          <p:cNvSpPr/>
          <p:nvPr/>
        </p:nvSpPr>
        <p:spPr>
          <a:xfrm>
            <a:off x="8496300" y="45720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Sector: Retail / FMCG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8496300" y="7620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ID: G-17 | Section: Section B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8496300" y="9906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Newton School of Technology</a:t>
            </a:r>
            <a:endParaRPr lang="en-US" sz="1100" dirty="0"/>
          </a:p>
        </p:txBody>
      </p:sp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3625" y="4591050"/>
            <a:ext cx="32385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638425"/>
            <a:ext cx="1543050" cy="438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295775"/>
            <a:ext cx="93345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857250"/>
            <a:ext cx="400050" cy="400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1466850"/>
            <a:ext cx="400050" cy="400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5875" y="2076450"/>
            <a:ext cx="400050" cy="400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2686050"/>
            <a:ext cx="400050" cy="400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3295650"/>
            <a:ext cx="400050" cy="400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3905250"/>
            <a:ext cx="400050" cy="400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5875" y="4514850"/>
            <a:ext cx="400050" cy="400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5124450"/>
            <a:ext cx="400050" cy="400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75" y="5734050"/>
            <a:ext cx="400050" cy="4000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06680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6" name="Text 1"/>
          <p:cNvSpPr/>
          <p:nvPr/>
        </p:nvSpPr>
        <p:spPr>
          <a:xfrm>
            <a:off x="762000" y="32956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1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5100" dirty="0"/>
          </a:p>
        </p:txBody>
      </p:sp>
      <p:sp>
        <p:nvSpPr>
          <p:cNvPr id="17" name="Text 2"/>
          <p:cNvSpPr/>
          <p:nvPr/>
        </p:nvSpPr>
        <p:spPr>
          <a:xfrm>
            <a:off x="5191125" y="9239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5676900" y="950119"/>
            <a:ext cx="2828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&amp; Problem Statement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5191125" y="15335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5676900" y="1559719"/>
            <a:ext cx="38766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Engineering (Source to Pipeline)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5191125" y="21431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5676900" y="2169319"/>
            <a:ext cx="2409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&amp; Metrics Framework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5191125" y="27527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5676900" y="2778919"/>
            <a:ext cx="1885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Insights (EDA)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5191125" y="33623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5676900" y="3388519"/>
            <a:ext cx="1781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Analysis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5191125" y="39719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5676900" y="3998119"/>
            <a:ext cx="30384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Dashboard Walkthrough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5191125" y="45815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15"/>
          <p:cNvSpPr/>
          <p:nvPr/>
        </p:nvSpPr>
        <p:spPr>
          <a:xfrm>
            <a:off x="5676900" y="4607719"/>
            <a:ext cx="1571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5191125" y="51911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2" name="Text 17"/>
          <p:cNvSpPr/>
          <p:nvPr/>
        </p:nvSpPr>
        <p:spPr>
          <a:xfrm>
            <a:off x="5676900" y="5217319"/>
            <a:ext cx="33528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Impact, Limitations &amp; Next Steps</a:t>
            </a:r>
            <a:endParaRPr lang="en-US" sz="1200" dirty="0"/>
          </a:p>
        </p:txBody>
      </p:sp>
      <p:sp>
        <p:nvSpPr>
          <p:cNvPr id="33" name="Text 18"/>
          <p:cNvSpPr/>
          <p:nvPr/>
        </p:nvSpPr>
        <p:spPr>
          <a:xfrm>
            <a:off x="5191125" y="58007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4" name="Text 19"/>
          <p:cNvSpPr/>
          <p:nvPr/>
        </p:nvSpPr>
        <p:spPr>
          <a:xfrm>
            <a:off x="5676900" y="5826919"/>
            <a:ext cx="19907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&amp; Contribution</a:t>
            </a:r>
            <a:endParaRPr lang="en-US" sz="1200" dirty="0"/>
          </a:p>
        </p:txBody>
      </p:sp>
      <p:sp>
        <p:nvSpPr>
          <p:cNvPr id="35" name="Text 20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7715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323975"/>
            <a:ext cx="323850" cy="3238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1781175"/>
            <a:ext cx="762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162175"/>
            <a:ext cx="76200" cy="76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543175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2819400"/>
            <a:ext cx="11449050" cy="1809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505325"/>
            <a:ext cx="323850" cy="3238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75" y="4886325"/>
            <a:ext cx="3467100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886325"/>
            <a:ext cx="34671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2925" y="4886325"/>
            <a:ext cx="3467100" cy="1104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6734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Problem Statement</a:t>
            </a:r>
            <a:endParaRPr lang="en-US" sz="3400" dirty="0"/>
          </a:p>
        </p:txBody>
      </p:sp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1409700"/>
            <a:ext cx="152400" cy="15240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990600" y="1333500"/>
            <a:ext cx="20270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 Context</a:t>
            </a:r>
            <a:endParaRPr lang="en-US" sz="1700" dirty="0"/>
          </a:p>
        </p:txBody>
      </p:sp>
      <p:sp>
        <p:nvSpPr>
          <p:cNvPr id="17" name="Text 2"/>
          <p:cNvSpPr/>
          <p:nvPr/>
        </p:nvSpPr>
        <p:spPr>
          <a:xfrm>
            <a:off x="1162050" y="1743075"/>
            <a:ext cx="4886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chocolate confectionery market is highly competitive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1162050" y="2124075"/>
            <a:ext cx="8124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varies across geographies, product lines, store formats, and customer segments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1162050" y="2505075"/>
            <a:ext cx="10267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decision-makers need a clear, data-driven view of revenue sources, underperforming products, and high-value segments</a:t>
            </a:r>
            <a:endParaRPr lang="en-US" sz="1200" dirty="0"/>
          </a:p>
        </p:txBody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3162300"/>
            <a:ext cx="1381125" cy="247650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952500" y="3209925"/>
            <a:ext cx="113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0000"/>
                </a:solidFill>
                <a:highlight>
                  <a:srgbClr val="C1E3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22" name="Text 6"/>
          <p:cNvSpPr/>
          <p:nvPr/>
        </p:nvSpPr>
        <p:spPr>
          <a:xfrm>
            <a:off x="838200" y="3514725"/>
            <a:ext cx="1062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combination of product category, store type, and customer segment drives the highest revenue per transaction—and where are the biggest untapped growth opportunities?</a:t>
            </a:r>
            <a:endParaRPr lang="en-US" sz="1700" dirty="0"/>
          </a:p>
        </p:txBody>
      </p:sp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4591050"/>
            <a:ext cx="152400" cy="152400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990600" y="4514850"/>
            <a:ext cx="13031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25" name="Text 8"/>
          <p:cNvSpPr/>
          <p:nvPr/>
        </p:nvSpPr>
        <p:spPr>
          <a:xfrm>
            <a:off x="1152525" y="5057775"/>
            <a:ext cx="311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01</a:t>
            </a:r>
            <a:endParaRPr lang="en-US" sz="1100" dirty="0"/>
          </a:p>
        </p:txBody>
      </p:sp>
      <p:sp>
        <p:nvSpPr>
          <p:cNvPr id="26" name="Text 9"/>
          <p:cNvSpPr/>
          <p:nvPr/>
        </p:nvSpPr>
        <p:spPr>
          <a:xfrm>
            <a:off x="1152525" y="5362575"/>
            <a:ext cx="31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Reallocate promotional budgets to highest-ROI product–store–customer combinations</a:t>
            </a:r>
            <a:endParaRPr lang="en-US" sz="1100" dirty="0"/>
          </a:p>
        </p:txBody>
      </p:sp>
      <p:sp>
        <p:nvSpPr>
          <p:cNvPr id="27" name="Text 10"/>
          <p:cNvSpPr/>
          <p:nvPr/>
        </p:nvSpPr>
        <p:spPr>
          <a:xfrm>
            <a:off x="4746575" y="5057775"/>
            <a:ext cx="311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02</a:t>
            </a:r>
            <a:endParaRPr lang="en-US" sz="1100" dirty="0"/>
          </a:p>
        </p:txBody>
      </p:sp>
      <p:sp>
        <p:nvSpPr>
          <p:cNvPr id="28" name="Text 11"/>
          <p:cNvSpPr/>
          <p:nvPr/>
        </p:nvSpPr>
        <p:spPr>
          <a:xfrm>
            <a:off x="4746575" y="5362575"/>
            <a:ext cx="311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Discontinue or reposition low-performing SKUs</a:t>
            </a:r>
            <a:endParaRPr lang="en-US" sz="1100" dirty="0"/>
          </a:p>
        </p:txBody>
      </p:sp>
      <p:sp>
        <p:nvSpPr>
          <p:cNvPr id="29" name="Text 12"/>
          <p:cNvSpPr/>
          <p:nvPr/>
        </p:nvSpPr>
        <p:spPr>
          <a:xfrm>
            <a:off x="8340626" y="5057775"/>
            <a:ext cx="3117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03</a:t>
            </a:r>
            <a:endParaRPr lang="en-US" sz="1100" dirty="0"/>
          </a:p>
        </p:txBody>
      </p:sp>
      <p:sp>
        <p:nvSpPr>
          <p:cNvPr id="30" name="Text 13"/>
          <p:cNvSpPr/>
          <p:nvPr/>
        </p:nvSpPr>
        <p:spPr>
          <a:xfrm>
            <a:off x="8340626" y="5362575"/>
            <a:ext cx="3117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expansion in high-potential store clusters</a:t>
            </a:r>
            <a:endParaRPr lang="en-US" sz="1100" dirty="0"/>
          </a:p>
        </p:txBody>
      </p:sp>
      <p:sp>
        <p:nvSpPr>
          <p:cNvPr id="31" name="Text 14"/>
          <p:cNvSpPr/>
          <p:nvPr/>
        </p:nvSpPr>
        <p:spPr>
          <a:xfrm>
            <a:off x="6019800" y="628650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75" y="7715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323975"/>
            <a:ext cx="5057775" cy="1866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324225"/>
            <a:ext cx="5057775" cy="1104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700" y="1323974"/>
            <a:ext cx="5457825" cy="3057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552950"/>
            <a:ext cx="10687050" cy="1219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571500"/>
            <a:ext cx="834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(Source to Pipeline)</a:t>
            </a:r>
            <a:endParaRPr lang="en-US" sz="3400" dirty="0"/>
          </a:p>
        </p:txBody>
      </p:sp>
      <p:sp>
        <p:nvSpPr>
          <p:cNvPr id="10" name="Text 1"/>
          <p:cNvSpPr/>
          <p:nvPr/>
        </p:nvSpPr>
        <p:spPr>
          <a:xfrm>
            <a:off x="1209675" y="1495425"/>
            <a:ext cx="685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4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524000"/>
            <a:ext cx="190500" cy="209550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923925" y="1838325"/>
            <a:ext cx="7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</a:t>
            </a:r>
            <a:endParaRPr lang="en-US" sz="900" dirty="0"/>
          </a:p>
        </p:txBody>
      </p:sp>
      <p:sp>
        <p:nvSpPr>
          <p:cNvPr id="13" name="Text 3"/>
          <p:cNvSpPr/>
          <p:nvPr/>
        </p:nvSpPr>
        <p:spPr>
          <a:xfrm>
            <a:off x="1076325" y="1838325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Internal Chocolate Retail Simulation Dataset</a:t>
            </a:r>
            <a:endParaRPr lang="en-US" sz="900" dirty="0"/>
          </a:p>
        </p:txBody>
      </p:sp>
      <p:sp>
        <p:nvSpPr>
          <p:cNvPr id="14" name="Text 4"/>
          <p:cNvSpPr/>
          <p:nvPr/>
        </p:nvSpPr>
        <p:spPr>
          <a:xfrm>
            <a:off x="923925" y="2105025"/>
            <a:ext cx="7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1076325" y="2105025"/>
            <a:ext cx="4562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Files: calender.csv, customers.csv, products.csv, sales.csv, stores.csv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923925" y="2562225"/>
            <a:ext cx="7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</a:t>
            </a:r>
            <a:endParaRPr lang="en-US" sz="900" dirty="0"/>
          </a:p>
        </p:txBody>
      </p:sp>
      <p:sp>
        <p:nvSpPr>
          <p:cNvPr id="17" name="Text 7"/>
          <p:cNvSpPr/>
          <p:nvPr/>
        </p:nvSpPr>
        <p:spPr>
          <a:xfrm>
            <a:off x="1076325" y="256222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Size: &gt;5,000 sales transactions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923925" y="2828925"/>
            <a:ext cx="7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</a:t>
            </a:r>
            <a:endParaRPr lang="en-US" sz="900" dirty="0"/>
          </a:p>
        </p:txBody>
      </p:sp>
      <p:sp>
        <p:nvSpPr>
          <p:cNvPr id="19" name="Text 9"/>
          <p:cNvSpPr/>
          <p:nvPr/>
        </p:nvSpPr>
        <p:spPr>
          <a:xfrm>
            <a:off x="1076325" y="2828925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Period: Full calendar year</a:t>
            </a:r>
            <a:endParaRPr lang="en-US" sz="900" dirty="0"/>
          </a:p>
        </p:txBody>
      </p:sp>
      <p:sp>
        <p:nvSpPr>
          <p:cNvPr id="20" name="Text 10"/>
          <p:cNvSpPr/>
          <p:nvPr/>
        </p:nvSpPr>
        <p:spPr>
          <a:xfrm>
            <a:off x="1247775" y="3495675"/>
            <a:ext cx="2057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(notebooks)</a:t>
            </a:r>
            <a:endParaRPr lang="en-US" sz="14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3524250"/>
            <a:ext cx="200025" cy="2095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52500" y="3838575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/notebooks/01_extraction.ipynb</a:t>
            </a:r>
            <a:endParaRPr lang="en-US" sz="900" dirty="0"/>
          </a:p>
        </p:txBody>
      </p:sp>
      <p:sp>
        <p:nvSpPr>
          <p:cNvPr id="23" name="Text 12"/>
          <p:cNvSpPr/>
          <p:nvPr/>
        </p:nvSpPr>
        <p:spPr>
          <a:xfrm>
            <a:off x="952500" y="4067175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/notebooks/02_Cleaning.ipynb</a:t>
            </a:r>
            <a:endParaRPr lang="en-US" sz="900" dirty="0"/>
          </a:p>
        </p:txBody>
      </p:sp>
      <p:sp>
        <p:nvSpPr>
          <p:cNvPr id="24" name="Text 13"/>
          <p:cNvSpPr/>
          <p:nvPr/>
        </p:nvSpPr>
        <p:spPr>
          <a:xfrm>
            <a:off x="6543675" y="1533525"/>
            <a:ext cx="3771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ETL (major cleaning steps)</a:t>
            </a:r>
            <a:endParaRPr lang="en-US" sz="14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725" y="1562100"/>
            <a:ext cx="257175" cy="20955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1725" y="2019300"/>
            <a:ext cx="400050" cy="40005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191250" y="2028825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highlight>
                  <a:srgbClr val="C1E3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15"/>
          <p:cNvSpPr/>
          <p:nvPr/>
        </p:nvSpPr>
        <p:spPr>
          <a:xfrm>
            <a:off x="6724650" y="2028825"/>
            <a:ext cx="450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handling</a:t>
            </a:r>
            <a:endParaRPr lang="en-US" sz="1200" dirty="0"/>
          </a:p>
        </p:txBody>
      </p:sp>
      <p:sp>
        <p:nvSpPr>
          <p:cNvPr id="29" name="Text 16"/>
          <p:cNvSpPr/>
          <p:nvPr/>
        </p:nvSpPr>
        <p:spPr>
          <a:xfrm>
            <a:off x="6724650" y="2333625"/>
            <a:ext cx="4505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 transactions with missing Amount/Boxes; validated all foreign keys</a:t>
            </a:r>
            <a:endParaRPr lang="en-US" sz="9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1725" y="2857500"/>
            <a:ext cx="400050" cy="40005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191250" y="2867025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highlight>
                  <a:srgbClr val="C1E3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6724650" y="2867025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casting</a:t>
            </a:r>
            <a:endParaRPr lang="en-US" sz="1200" dirty="0"/>
          </a:p>
        </p:txBody>
      </p:sp>
      <p:sp>
        <p:nvSpPr>
          <p:cNvPr id="33" name="Text 19"/>
          <p:cNvSpPr/>
          <p:nvPr/>
        </p:nvSpPr>
        <p:spPr>
          <a:xfrm>
            <a:off x="6724650" y="3171825"/>
            <a:ext cx="449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 dates to datetime64; standardised categorical fields</a:t>
            </a:r>
            <a:endParaRPr lang="en-US" sz="9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1725" y="3505200"/>
            <a:ext cx="400050" cy="40005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191250" y="3514725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highlight>
                  <a:srgbClr val="C1E3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21"/>
          <p:cNvSpPr/>
          <p:nvPr/>
        </p:nvSpPr>
        <p:spPr>
          <a:xfrm>
            <a:off x="6724650" y="3514725"/>
            <a:ext cx="373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37" name="Text 22"/>
          <p:cNvSpPr/>
          <p:nvPr/>
        </p:nvSpPr>
        <p:spPr>
          <a:xfrm>
            <a:off x="6724650" y="3819525"/>
            <a:ext cx="373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unique SaleID; removed duplicate records</a:t>
            </a:r>
            <a:endParaRPr lang="en-US" sz="900" dirty="0"/>
          </a:p>
        </p:txBody>
      </p:sp>
      <p:sp>
        <p:nvSpPr>
          <p:cNvPr id="38" name="Text 23"/>
          <p:cNvSpPr/>
          <p:nvPr/>
        </p:nvSpPr>
        <p:spPr>
          <a:xfrm>
            <a:off x="1200150" y="4743450"/>
            <a:ext cx="3038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Dictionary (key columns)</a:t>
            </a:r>
            <a:endParaRPr lang="en-US" sz="12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543425"/>
            <a:ext cx="171450" cy="1905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33450" y="5067300"/>
            <a:ext cx="9108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sales.csv:</a:t>
            </a:r>
            <a:endParaRPr lang="en-US" sz="800" dirty="0"/>
          </a:p>
        </p:txBody>
      </p:sp>
      <p:sp>
        <p:nvSpPr>
          <p:cNvPr id="41" name="Text 25"/>
          <p:cNvSpPr/>
          <p:nvPr/>
        </p:nvSpPr>
        <p:spPr>
          <a:xfrm>
            <a:off x="1958578" y="5067300"/>
            <a:ext cx="39183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SaleID, Date, CustomerID, ProductID, StoreID, Boxes, Amount</a:t>
            </a:r>
            <a:endParaRPr lang="en-US" sz="800" dirty="0"/>
          </a:p>
        </p:txBody>
      </p:sp>
      <p:sp>
        <p:nvSpPr>
          <p:cNvPr id="42" name="Text 26"/>
          <p:cNvSpPr/>
          <p:nvPr/>
        </p:nvSpPr>
        <p:spPr>
          <a:xfrm>
            <a:off x="6334125" y="506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products.csv:</a:t>
            </a:r>
            <a:endParaRPr lang="en-US" sz="800" dirty="0"/>
          </a:p>
        </p:txBody>
      </p:sp>
      <p:sp>
        <p:nvSpPr>
          <p:cNvPr id="43" name="Text 27"/>
          <p:cNvSpPr/>
          <p:nvPr/>
        </p:nvSpPr>
        <p:spPr>
          <a:xfrm>
            <a:off x="7362825" y="5067300"/>
            <a:ext cx="2800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Product, Category, CostPerBox, PricePerBox</a:t>
            </a:r>
            <a:endParaRPr lang="en-US" sz="800" dirty="0"/>
          </a:p>
        </p:txBody>
      </p:sp>
      <p:sp>
        <p:nvSpPr>
          <p:cNvPr id="44" name="Text 28"/>
          <p:cNvSpPr/>
          <p:nvPr/>
        </p:nvSpPr>
        <p:spPr>
          <a:xfrm>
            <a:off x="933450" y="544830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customers.csv:</a:t>
            </a:r>
            <a:endParaRPr lang="en-US" sz="800" dirty="0"/>
          </a:p>
        </p:txBody>
      </p:sp>
      <p:sp>
        <p:nvSpPr>
          <p:cNvPr id="45" name="Text 29"/>
          <p:cNvSpPr/>
          <p:nvPr/>
        </p:nvSpPr>
        <p:spPr>
          <a:xfrm>
            <a:off x="1962150" y="5448300"/>
            <a:ext cx="1400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Customer, Gender, Age</a:t>
            </a:r>
            <a:endParaRPr lang="en-US" sz="800" dirty="0"/>
          </a:p>
        </p:txBody>
      </p:sp>
      <p:sp>
        <p:nvSpPr>
          <p:cNvPr id="46" name="Text 30"/>
          <p:cNvSpPr/>
          <p:nvPr/>
        </p:nvSpPr>
        <p:spPr>
          <a:xfrm>
            <a:off x="6334125" y="544830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stores.csv:</a:t>
            </a:r>
            <a:endParaRPr lang="en-US" sz="800" dirty="0"/>
          </a:p>
        </p:txBody>
      </p:sp>
      <p:sp>
        <p:nvSpPr>
          <p:cNvPr id="47" name="Text 31"/>
          <p:cNvSpPr/>
          <p:nvPr/>
        </p:nvSpPr>
        <p:spPr>
          <a:xfrm>
            <a:off x="7362825" y="5448300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Store, Region, Country (stores.csv)</a:t>
            </a:r>
            <a:endParaRPr lang="en-US" sz="800" dirty="0"/>
          </a:p>
        </p:txBody>
      </p:sp>
      <p:sp>
        <p:nvSpPr>
          <p:cNvPr id="48" name="Text 32"/>
          <p:cNvSpPr/>
          <p:nvPr/>
        </p:nvSpPr>
        <p:spPr>
          <a:xfrm>
            <a:off x="762000" y="6096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7715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323975"/>
            <a:ext cx="2571750" cy="14668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575" y="1323975"/>
            <a:ext cx="2571750" cy="14668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75" y="1323975"/>
            <a:ext cx="2571750" cy="14668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775" y="1323975"/>
            <a:ext cx="2571750" cy="14668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924175"/>
            <a:ext cx="2571750" cy="14668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575" y="2924175"/>
            <a:ext cx="2571750" cy="14668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75" y="2924175"/>
            <a:ext cx="2571750" cy="14668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775" y="2924175"/>
            <a:ext cx="2571750" cy="14668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752975"/>
            <a:ext cx="6172200" cy="1314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225" y="4752975"/>
            <a:ext cx="4305300" cy="13144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571500"/>
            <a:ext cx="5734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&amp; Metrics Framework</a:t>
            </a:r>
            <a:endParaRPr lang="en-US" sz="3400" dirty="0"/>
          </a:p>
        </p:txBody>
      </p:sp>
      <p:sp>
        <p:nvSpPr>
          <p:cNvPr id="16" name="Text 1"/>
          <p:cNvSpPr/>
          <p:nvPr/>
        </p:nvSpPr>
        <p:spPr>
          <a:xfrm>
            <a:off x="1567755" y="1643063"/>
            <a:ext cx="941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7" name="Text 2"/>
          <p:cNvSpPr/>
          <p:nvPr/>
        </p:nvSpPr>
        <p:spPr>
          <a:xfrm>
            <a:off x="1514475" y="1871663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25.2M</a:t>
            </a:r>
            <a:endParaRPr lang="en-US" sz="2500" dirty="0"/>
          </a:p>
        </p:txBody>
      </p:sp>
      <p:sp>
        <p:nvSpPr>
          <p:cNvPr id="18" name="Text 3"/>
          <p:cNvSpPr/>
          <p:nvPr/>
        </p:nvSpPr>
        <p:spPr>
          <a:xfrm>
            <a:off x="1724025" y="2328863"/>
            <a:ext cx="628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SUM(Amount)</a:t>
            </a:r>
            <a:endParaRPr lang="en-US" sz="700" dirty="0"/>
          </a:p>
        </p:txBody>
      </p:sp>
      <p:sp>
        <p:nvSpPr>
          <p:cNvPr id="19" name="Text 4"/>
          <p:cNvSpPr/>
          <p:nvPr/>
        </p:nvSpPr>
        <p:spPr>
          <a:xfrm>
            <a:off x="4309021" y="1643063"/>
            <a:ext cx="868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20" name="Text 5"/>
          <p:cNvSpPr/>
          <p:nvPr/>
        </p:nvSpPr>
        <p:spPr>
          <a:xfrm>
            <a:off x="4533900" y="1871663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1M</a:t>
            </a:r>
            <a:endParaRPr lang="en-US" sz="2500" dirty="0"/>
          </a:p>
        </p:txBody>
      </p:sp>
      <p:sp>
        <p:nvSpPr>
          <p:cNvPr id="21" name="Text 6"/>
          <p:cNvSpPr/>
          <p:nvPr/>
        </p:nvSpPr>
        <p:spPr>
          <a:xfrm>
            <a:off x="4371975" y="2328863"/>
            <a:ext cx="742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COUNT(SaleID)</a:t>
            </a:r>
            <a:endParaRPr lang="en-US" sz="700" dirty="0"/>
          </a:p>
        </p:txBody>
      </p:sp>
      <p:sp>
        <p:nvSpPr>
          <p:cNvPr id="22" name="Text 7"/>
          <p:cNvSpPr/>
          <p:nvPr/>
        </p:nvSpPr>
        <p:spPr>
          <a:xfrm>
            <a:off x="7014121" y="1643063"/>
            <a:ext cx="868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Profit</a:t>
            </a:r>
            <a:endParaRPr lang="en-US" sz="800" dirty="0"/>
          </a:p>
        </p:txBody>
      </p:sp>
      <p:sp>
        <p:nvSpPr>
          <p:cNvPr id="23" name="Text 8"/>
          <p:cNvSpPr/>
          <p:nvPr/>
        </p:nvSpPr>
        <p:spPr>
          <a:xfrm>
            <a:off x="6924675" y="1871663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10.1M</a:t>
            </a:r>
            <a:endParaRPr lang="en-US" sz="2500" dirty="0"/>
          </a:p>
        </p:txBody>
      </p:sp>
      <p:sp>
        <p:nvSpPr>
          <p:cNvPr id="24" name="Text 9"/>
          <p:cNvSpPr/>
          <p:nvPr/>
        </p:nvSpPr>
        <p:spPr>
          <a:xfrm>
            <a:off x="7134225" y="2328863"/>
            <a:ext cx="628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SUM(Profit)</a:t>
            </a:r>
            <a:endParaRPr lang="en-US" sz="700" dirty="0"/>
          </a:p>
        </p:txBody>
      </p:sp>
      <p:sp>
        <p:nvSpPr>
          <p:cNvPr id="25" name="Text 10"/>
          <p:cNvSpPr/>
          <p:nvPr/>
        </p:nvSpPr>
        <p:spPr>
          <a:xfrm>
            <a:off x="9683055" y="1643063"/>
            <a:ext cx="941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</a:t>
            </a:r>
            <a:endParaRPr lang="en-US" sz="800" dirty="0"/>
          </a:p>
        </p:txBody>
      </p:sp>
      <p:sp>
        <p:nvSpPr>
          <p:cNvPr id="26" name="Text 11"/>
          <p:cNvSpPr/>
          <p:nvPr/>
        </p:nvSpPr>
        <p:spPr>
          <a:xfrm>
            <a:off x="9839325" y="1871663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2500" dirty="0"/>
          </a:p>
        </p:txBody>
      </p:sp>
      <p:sp>
        <p:nvSpPr>
          <p:cNvPr id="27" name="Text 12"/>
          <p:cNvSpPr/>
          <p:nvPr/>
        </p:nvSpPr>
        <p:spPr>
          <a:xfrm>
            <a:off x="9525000" y="2328863"/>
            <a:ext cx="1257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Profit / Revenue</a:t>
            </a:r>
            <a:endParaRPr lang="en-US" sz="700" dirty="0"/>
          </a:p>
        </p:txBody>
      </p:sp>
      <p:sp>
        <p:nvSpPr>
          <p:cNvPr id="28" name="Text 13"/>
          <p:cNvSpPr/>
          <p:nvPr/>
        </p:nvSpPr>
        <p:spPr>
          <a:xfrm>
            <a:off x="1495425" y="3243263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 Value</a:t>
            </a:r>
            <a:endParaRPr lang="en-US" sz="800" dirty="0"/>
          </a:p>
        </p:txBody>
      </p:sp>
      <p:sp>
        <p:nvSpPr>
          <p:cNvPr id="29" name="Text 14"/>
          <p:cNvSpPr/>
          <p:nvPr/>
        </p:nvSpPr>
        <p:spPr>
          <a:xfrm>
            <a:off x="1619250" y="3471863"/>
            <a:ext cx="83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25.5</a:t>
            </a:r>
            <a:endParaRPr lang="en-US" sz="2500" dirty="0"/>
          </a:p>
        </p:txBody>
      </p:sp>
      <p:sp>
        <p:nvSpPr>
          <p:cNvPr id="30" name="Text 15"/>
          <p:cNvSpPr/>
          <p:nvPr/>
        </p:nvSpPr>
        <p:spPr>
          <a:xfrm>
            <a:off x="1581150" y="3929063"/>
            <a:ext cx="914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/ Orders</a:t>
            </a:r>
            <a:endParaRPr lang="en-US" sz="700" dirty="0"/>
          </a:p>
        </p:txBody>
      </p:sp>
      <p:sp>
        <p:nvSpPr>
          <p:cNvPr id="31" name="Text 16"/>
          <p:cNvSpPr/>
          <p:nvPr/>
        </p:nvSpPr>
        <p:spPr>
          <a:xfrm>
            <a:off x="4200525" y="3281363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per Box</a:t>
            </a:r>
            <a:endParaRPr lang="en-US" sz="800" dirty="0"/>
          </a:p>
        </p:txBody>
      </p:sp>
      <p:sp>
        <p:nvSpPr>
          <p:cNvPr id="32" name="Text 17"/>
          <p:cNvSpPr/>
          <p:nvPr/>
        </p:nvSpPr>
        <p:spPr>
          <a:xfrm>
            <a:off x="4076700" y="3509963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Calculated</a:t>
            </a:r>
            <a:endParaRPr lang="en-US" sz="1700" dirty="0"/>
          </a:p>
        </p:txBody>
      </p:sp>
      <p:sp>
        <p:nvSpPr>
          <p:cNvPr id="33" name="Text 18"/>
          <p:cNvSpPr/>
          <p:nvPr/>
        </p:nvSpPr>
        <p:spPr>
          <a:xfrm>
            <a:off x="4114800" y="3890962"/>
            <a:ext cx="1257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SUM(Amount)/SUM(Boxes)</a:t>
            </a:r>
            <a:endParaRPr lang="en-US" sz="700" dirty="0"/>
          </a:p>
        </p:txBody>
      </p:sp>
      <p:sp>
        <p:nvSpPr>
          <p:cNvPr id="34" name="Text 19"/>
          <p:cNvSpPr/>
          <p:nvPr/>
        </p:nvSpPr>
        <p:spPr>
          <a:xfrm>
            <a:off x="6941790" y="3281363"/>
            <a:ext cx="1013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35" name="Text 20"/>
          <p:cNvSpPr/>
          <p:nvPr/>
        </p:nvSpPr>
        <p:spPr>
          <a:xfrm>
            <a:off x="6848475" y="3509963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Formulaic</a:t>
            </a:r>
            <a:endParaRPr lang="en-US" sz="1700" dirty="0"/>
          </a:p>
        </p:txBody>
      </p:sp>
      <p:sp>
        <p:nvSpPr>
          <p:cNvPr id="36" name="Text 21"/>
          <p:cNvSpPr/>
          <p:nvPr/>
        </p:nvSpPr>
        <p:spPr>
          <a:xfrm>
            <a:off x="6762750" y="3890962"/>
            <a:ext cx="1371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(Price-Cost)/Price × 100</a:t>
            </a:r>
            <a:endParaRPr lang="en-US" sz="700" dirty="0"/>
          </a:p>
        </p:txBody>
      </p:sp>
      <p:sp>
        <p:nvSpPr>
          <p:cNvPr id="37" name="Text 22"/>
          <p:cNvSpPr/>
          <p:nvPr/>
        </p:nvSpPr>
        <p:spPr>
          <a:xfrm>
            <a:off x="9646890" y="3281363"/>
            <a:ext cx="1013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Growth</a:t>
            </a:r>
            <a:endParaRPr lang="en-US" sz="800" dirty="0"/>
          </a:p>
        </p:txBody>
      </p:sp>
      <p:sp>
        <p:nvSpPr>
          <p:cNvPr id="38" name="Text 23"/>
          <p:cNvSpPr/>
          <p:nvPr/>
        </p:nvSpPr>
        <p:spPr>
          <a:xfrm>
            <a:off x="9820275" y="3509963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 %</a:t>
            </a:r>
            <a:endParaRPr lang="en-US" sz="1700" dirty="0"/>
          </a:p>
        </p:txBody>
      </p:sp>
      <p:sp>
        <p:nvSpPr>
          <p:cNvPr id="39" name="Text 24"/>
          <p:cNvSpPr/>
          <p:nvPr/>
        </p:nvSpPr>
        <p:spPr>
          <a:xfrm>
            <a:off x="9696450" y="3890962"/>
            <a:ext cx="914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Change %</a:t>
            </a:r>
            <a:endParaRPr lang="en-US" sz="700" dirty="0"/>
          </a:p>
        </p:txBody>
      </p:sp>
      <p:sp>
        <p:nvSpPr>
          <p:cNvPr id="40" name="Text 25"/>
          <p:cNvSpPr/>
          <p:nvPr/>
        </p:nvSpPr>
        <p:spPr>
          <a:xfrm>
            <a:off x="1314450" y="5010150"/>
            <a:ext cx="1466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These KPIs</a:t>
            </a:r>
            <a:endParaRPr lang="en-US" sz="12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" y="5029200"/>
            <a:ext cx="190500" cy="19050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1028700" y="5372100"/>
            <a:ext cx="56578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answer revenue drivers and profitability across segments</a:t>
            </a:r>
            <a:endParaRPr lang="en-US" sz="1200" dirty="0"/>
          </a:p>
        </p:txBody>
      </p:sp>
      <p:sp>
        <p:nvSpPr>
          <p:cNvPr id="43" name="Text 27"/>
          <p:cNvSpPr/>
          <p:nvPr/>
        </p:nvSpPr>
        <p:spPr>
          <a:xfrm>
            <a:off x="7705725" y="5010150"/>
            <a:ext cx="1152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Computation</a:t>
            </a:r>
            <a:endParaRPr lang="en-US" sz="12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2825" y="5029200"/>
            <a:ext cx="238125" cy="19050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7534275" y="5381625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notebooks/04_statistical_analysis.ipynb</a:t>
            </a:r>
            <a:endParaRPr lang="en-US" sz="9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2825" y="5400675"/>
            <a:ext cx="104775" cy="133350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7534275" y="5648325"/>
            <a:ext cx="259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notebooks/05_final_load_prep.ipynb</a:t>
            </a:r>
            <a:endParaRPr lang="en-US" sz="9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2825" y="5667375"/>
            <a:ext cx="104775" cy="133350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762000" y="62103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50" y="762000"/>
            <a:ext cx="93345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323975"/>
            <a:ext cx="3552825" cy="2057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838325"/>
            <a:ext cx="400050" cy="409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4825" y="1323975"/>
            <a:ext cx="3562350" cy="2057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0" y="1962150"/>
            <a:ext cx="409575" cy="409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323975"/>
            <a:ext cx="3552825" cy="2057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5" y="1838325"/>
            <a:ext cx="304800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3581400"/>
            <a:ext cx="3552825" cy="2057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105275"/>
            <a:ext cx="314325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4825" y="3581400"/>
            <a:ext cx="3562350" cy="2057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2950" y="4229100"/>
            <a:ext cx="314325" cy="409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3581400"/>
            <a:ext cx="3552825" cy="2057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5325" y="4105275"/>
            <a:ext cx="276225" cy="4095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5924550"/>
            <a:ext cx="11068050" cy="5619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571500" y="571500"/>
            <a:ext cx="4105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(EDA)</a:t>
            </a:r>
            <a:endParaRPr lang="en-US" sz="3400" dirty="0"/>
          </a:p>
        </p:txBody>
      </p:sp>
      <p:pic>
        <p:nvPicPr>
          <p:cNvPr id="19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75" y="1943100"/>
            <a:ext cx="180975" cy="200025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1302097" y="1778794"/>
            <a:ext cx="25617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peaked in January</a:t>
            </a:r>
            <a:endParaRPr lang="en-US" sz="1400" dirty="0"/>
          </a:p>
        </p:txBody>
      </p:sp>
      <p:sp>
        <p:nvSpPr>
          <p:cNvPr id="21" name="Text 2"/>
          <p:cNvSpPr/>
          <p:nvPr/>
        </p:nvSpPr>
        <p:spPr>
          <a:xfrm>
            <a:off x="809625" y="2426494"/>
            <a:ext cx="30542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spike indicates gifting season opportunity</a:t>
            </a:r>
            <a:endParaRPr lang="en-US" sz="1100" dirty="0"/>
          </a:p>
        </p:txBody>
      </p:sp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6775" y="2066925"/>
            <a:ext cx="161925" cy="200025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5064026" y="2035969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is 40%</a:t>
            </a:r>
            <a:endParaRPr lang="en-US" sz="1400" dirty="0"/>
          </a:p>
        </p:txBody>
      </p:sp>
      <p:sp>
        <p:nvSpPr>
          <p:cNvPr id="24" name="Text 4"/>
          <p:cNvSpPr/>
          <p:nvPr/>
        </p:nvSpPr>
        <p:spPr>
          <a:xfrm>
            <a:off x="4568726" y="2474119"/>
            <a:ext cx="3054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profitability across portfolio</a:t>
            </a:r>
            <a:endParaRPr lang="en-US" sz="1100" dirty="0"/>
          </a:p>
        </p:txBody>
      </p:sp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3900" y="1943100"/>
            <a:ext cx="247650" cy="200025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8717012" y="1778794"/>
            <a:ext cx="26652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55+ age group is the top revenue driver</a:t>
            </a:r>
            <a:endParaRPr lang="en-US" sz="1400" dirty="0"/>
          </a:p>
        </p:txBody>
      </p:sp>
      <p:sp>
        <p:nvSpPr>
          <p:cNvPr id="27" name="Text 6"/>
          <p:cNvSpPr/>
          <p:nvPr/>
        </p:nvSpPr>
        <p:spPr>
          <a:xfrm>
            <a:off x="8327975" y="2426494"/>
            <a:ext cx="30542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demographics outspend younger segments</a:t>
            </a:r>
            <a:endParaRPr lang="en-US" sz="1100" dirty="0"/>
          </a:p>
        </p:txBody>
      </p:sp>
      <p:pic>
        <p:nvPicPr>
          <p:cNvPr id="28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" y="4210050"/>
            <a:ext cx="219075" cy="200025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1212800" y="4040981"/>
            <a:ext cx="2651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 needs improvement</a:t>
            </a:r>
            <a:endParaRPr lang="en-US" sz="1400" dirty="0"/>
          </a:p>
        </p:txBody>
      </p:sp>
      <p:sp>
        <p:nvSpPr>
          <p:cNvPr id="30" name="Text 8"/>
          <p:cNvSpPr/>
          <p:nvPr/>
        </p:nvSpPr>
        <p:spPr>
          <a:xfrm>
            <a:off x="809625" y="4688681"/>
            <a:ext cx="30542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and non-loyal customers spend almost equally</a:t>
            </a:r>
            <a:endParaRPr lang="en-US" sz="1100" dirty="0"/>
          </a:p>
        </p:txBody>
      </p:sp>
      <p:pic>
        <p:nvPicPr>
          <p:cNvPr id="31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0100" y="4333875"/>
            <a:ext cx="200025" cy="200025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4965799" y="4164806"/>
            <a:ext cx="26573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is the top-performing country</a:t>
            </a:r>
            <a:endParaRPr lang="en-US" sz="1400" dirty="0"/>
          </a:p>
        </p:txBody>
      </p:sp>
      <p:sp>
        <p:nvSpPr>
          <p:cNvPr id="33" name="Text 10"/>
          <p:cNvSpPr/>
          <p:nvPr/>
        </p:nvSpPr>
        <p:spPr>
          <a:xfrm>
            <a:off x="4568726" y="4812506"/>
            <a:ext cx="3054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concentration of revenue</a:t>
            </a:r>
            <a:endParaRPr lang="en-US" sz="1100" dirty="0"/>
          </a:p>
        </p:txBody>
      </p:sp>
      <p:pic>
        <p:nvPicPr>
          <p:cNvPr id="34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4375" y="4210050"/>
            <a:ext cx="247650" cy="200025"/>
          </a:xfrm>
          <a:prstGeom prst="rect">
            <a:avLst/>
          </a:prstGeom>
        </p:spPr>
      </p:pic>
      <p:sp>
        <p:nvSpPr>
          <p:cNvPr id="35" name="Text 11"/>
          <p:cNvSpPr/>
          <p:nvPr/>
        </p:nvSpPr>
        <p:spPr>
          <a:xfrm>
            <a:off x="8696325" y="4040981"/>
            <a:ext cx="26859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stores generate 29.87% of revenue</a:t>
            </a:r>
            <a:endParaRPr lang="en-US" sz="1400" dirty="0"/>
          </a:p>
        </p:txBody>
      </p:sp>
      <p:sp>
        <p:nvSpPr>
          <p:cNvPr id="36" name="Text 12"/>
          <p:cNvSpPr/>
          <p:nvPr/>
        </p:nvSpPr>
        <p:spPr>
          <a:xfrm>
            <a:off x="8327975" y="4688681"/>
            <a:ext cx="30542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revenue channel among store types</a:t>
            </a:r>
            <a:endParaRPr lang="en-US" sz="1100" dirty="0"/>
          </a:p>
        </p:txBody>
      </p:sp>
      <p:sp>
        <p:nvSpPr>
          <p:cNvPr id="37" name="Text 13"/>
          <p:cNvSpPr/>
          <p:nvPr/>
        </p:nvSpPr>
        <p:spPr>
          <a:xfrm>
            <a:off x="571500" y="62293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Reference:</a:t>
            </a:r>
            <a:endParaRPr lang="en-US" sz="90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04950" y="6162675"/>
            <a:ext cx="2000250" cy="323850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1666875" y="62293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notebooks/03_eda.ipynb</a:t>
            </a:r>
            <a:endParaRPr lang="en-US" sz="900" dirty="0"/>
          </a:p>
        </p:txBody>
      </p:sp>
      <p:sp>
        <p:nvSpPr>
          <p:cNvPr id="40" name="Text 15"/>
          <p:cNvSpPr/>
          <p:nvPr/>
        </p:nvSpPr>
        <p:spPr>
          <a:xfrm>
            <a:off x="11410950" y="61912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762000"/>
            <a:ext cx="93345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2809875"/>
            <a:ext cx="95250" cy="95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514725"/>
            <a:ext cx="95250" cy="95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981450"/>
            <a:ext cx="95250" cy="95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448175"/>
            <a:ext cx="95250" cy="95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1295400"/>
            <a:ext cx="5162550" cy="43910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5829300"/>
            <a:ext cx="11068050" cy="6572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1500" y="571500"/>
            <a:ext cx="429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Analysis</a:t>
            </a:r>
            <a:endParaRPr lang="en-US" sz="3400" dirty="0"/>
          </a:p>
        </p:txBody>
      </p:sp>
      <p:sp>
        <p:nvSpPr>
          <p:cNvPr id="12" name="Text 1"/>
          <p:cNvSpPr/>
          <p:nvPr/>
        </p:nvSpPr>
        <p:spPr>
          <a:xfrm>
            <a:off x="914400" y="22098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Depth</a:t>
            </a:r>
            <a:endParaRPr lang="en-US" sz="1700" dirty="0"/>
          </a:p>
        </p:txBody>
      </p:sp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2219325"/>
            <a:ext cx="247650" cy="247650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00100" y="2724150"/>
            <a:ext cx="5600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by Age Band (&lt;18, 18–24, 25–34, 35–44, 45–54, 55+)</a:t>
            </a:r>
            <a:endParaRPr lang="en-US" sz="1400" dirty="0"/>
          </a:p>
        </p:txBody>
      </p:sp>
      <p:sp>
        <p:nvSpPr>
          <p:cNvPr id="15" name="Text 3"/>
          <p:cNvSpPr/>
          <p:nvPr/>
        </p:nvSpPr>
        <p:spPr>
          <a:xfrm>
            <a:off x="800100" y="3429000"/>
            <a:ext cx="4124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performance ranking and benchmarking</a:t>
            </a:r>
            <a:endParaRPr lang="en-US" sz="1400" dirty="0"/>
          </a:p>
        </p:txBody>
      </p:sp>
      <p:sp>
        <p:nvSpPr>
          <p:cNvPr id="16" name="Text 4"/>
          <p:cNvSpPr/>
          <p:nvPr/>
        </p:nvSpPr>
        <p:spPr>
          <a:xfrm>
            <a:off x="800100" y="3895725"/>
            <a:ext cx="4886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rate analysis (IsRepeatCustomer flag)</a:t>
            </a:r>
            <a:endParaRPr lang="en-US" sz="1400" dirty="0"/>
          </a:p>
        </p:txBody>
      </p:sp>
      <p:sp>
        <p:nvSpPr>
          <p:cNvPr id="17" name="Text 5"/>
          <p:cNvSpPr/>
          <p:nvPr/>
        </p:nvSpPr>
        <p:spPr>
          <a:xfrm>
            <a:off x="800100" y="4362450"/>
            <a:ext cx="38766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analysis by product category</a:t>
            </a:r>
            <a:endParaRPr lang="en-US" sz="14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9475" y="1866900"/>
            <a:ext cx="4019550" cy="49530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7239000" y="1879997"/>
            <a:ext cx="4000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Understanding</a:t>
            </a:r>
            <a:endParaRPr lang="en-US" sz="17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2638425"/>
            <a:ext cx="342900" cy="733425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7753350" y="2651522"/>
            <a:ext cx="34861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Chocolate category drives disproportionate revenue despite fewer SKUs</a:t>
            </a:r>
            <a:endParaRPr lang="en-US" sz="120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9475" y="3648075"/>
            <a:ext cx="342900" cy="504825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7753350" y="3663553"/>
            <a:ext cx="34861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channel outperforms other store types</a:t>
            </a:r>
            <a:endParaRPr lang="en-US" sz="1200" dirty="0"/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9475" y="4429125"/>
            <a:ext cx="381000" cy="49530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7791450" y="4439841"/>
            <a:ext cx="34480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55+ demographic is underserved relative to spending power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571500" y="6219825"/>
            <a:ext cx="18231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Libraries Used:</a:t>
            </a:r>
            <a:endParaRPr lang="en-US" sz="9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3650" y="6143625"/>
            <a:ext cx="809625" cy="342900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2699445" y="62103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90900" y="6143625"/>
            <a:ext cx="733425" cy="34290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3556695" y="62103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90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1950" y="6143625"/>
            <a:ext cx="1114425" cy="34290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4337745" y="6210300"/>
            <a:ext cx="78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9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0" y="6143625"/>
            <a:ext cx="885825" cy="34290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5499795" y="6210300"/>
            <a:ext cx="552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90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7450" y="6143625"/>
            <a:ext cx="733425" cy="34290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6433245" y="62103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scipy</a:t>
            </a:r>
            <a:endParaRPr lang="en-US" sz="900" dirty="0"/>
          </a:p>
        </p:txBody>
      </p:sp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48500" y="6143625"/>
            <a:ext cx="1190625" cy="342900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7214295" y="6210300"/>
            <a:ext cx="85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statsmodels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11410950" y="61817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25" y="762000"/>
            <a:ext cx="93345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323975"/>
            <a:ext cx="5429250" cy="3124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16383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590800"/>
            <a:ext cx="1562100" cy="666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5550" y="2590800"/>
            <a:ext cx="1562100" cy="666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590800"/>
            <a:ext cx="1562100" cy="666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323975"/>
            <a:ext cx="5429250" cy="312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6383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324100"/>
            <a:ext cx="4800600" cy="6953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3190875"/>
            <a:ext cx="4800600" cy="6953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4933950"/>
            <a:ext cx="7505700" cy="6953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225" y="4648200"/>
            <a:ext cx="3352800" cy="126682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741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Dashboard Walkthrough</a:t>
            </a:r>
            <a:endParaRPr lang="en-US" sz="3400" dirty="0"/>
          </a:p>
        </p:txBody>
      </p:sp>
      <p:pic>
        <p:nvPicPr>
          <p:cNvPr id="17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" y="1771650"/>
            <a:ext cx="209550" cy="20955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1495425" y="1724025"/>
            <a:ext cx="41225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 (Sales Dashboard)</a:t>
            </a:r>
            <a:endParaRPr lang="en-US" sz="1700" dirty="0"/>
          </a:p>
        </p:txBody>
      </p:sp>
      <p:sp>
        <p:nvSpPr>
          <p:cNvPr id="19" name="Text 2"/>
          <p:cNvSpPr/>
          <p:nvPr/>
        </p:nvSpPr>
        <p:spPr>
          <a:xfrm>
            <a:off x="885825" y="2333625"/>
            <a:ext cx="478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Scorecard</a:t>
            </a:r>
            <a:endParaRPr lang="en-US" sz="900" dirty="0"/>
          </a:p>
        </p:txBody>
      </p:sp>
      <p:sp>
        <p:nvSpPr>
          <p:cNvPr id="20" name="Text 3"/>
          <p:cNvSpPr/>
          <p:nvPr/>
        </p:nvSpPr>
        <p:spPr>
          <a:xfrm>
            <a:off x="1000125" y="2714625"/>
            <a:ext cx="131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800" dirty="0"/>
          </a:p>
        </p:txBody>
      </p:sp>
      <p:sp>
        <p:nvSpPr>
          <p:cNvPr id="21" name="Text 4"/>
          <p:cNvSpPr/>
          <p:nvPr/>
        </p:nvSpPr>
        <p:spPr>
          <a:xfrm>
            <a:off x="1000125" y="286702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2619375" y="2714625"/>
            <a:ext cx="131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23" name="Text 6"/>
          <p:cNvSpPr/>
          <p:nvPr/>
        </p:nvSpPr>
        <p:spPr>
          <a:xfrm>
            <a:off x="2619375" y="286702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25.2M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4238625" y="2714625"/>
            <a:ext cx="131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00" dirty="0"/>
          </a:p>
        </p:txBody>
      </p:sp>
      <p:sp>
        <p:nvSpPr>
          <p:cNvPr id="25" name="Text 8"/>
          <p:cNvSpPr/>
          <p:nvPr/>
        </p:nvSpPr>
        <p:spPr>
          <a:xfrm>
            <a:off x="4238625" y="2867025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10.1M</a:t>
            </a:r>
            <a:endParaRPr lang="en-US" sz="120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3467100"/>
            <a:ext cx="1466850" cy="26670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1000125" y="3514725"/>
            <a:ext cx="1219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highlight>
                  <a:srgbClr val="FDF5E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 Trend (Line)</a:t>
            </a:r>
            <a:endParaRPr lang="en-US" sz="800" dirty="0"/>
          </a:p>
        </p:txBody>
      </p:sp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00300" y="3467100"/>
            <a:ext cx="1200150" cy="266700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2524125" y="351472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highlight>
                  <a:srgbClr val="FDF5E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(Pie)</a:t>
            </a:r>
            <a:endParaRPr lang="en-US" sz="800" dirty="0"/>
          </a:p>
        </p:txBody>
      </p:sp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0" y="3467100"/>
            <a:ext cx="1600200" cy="26670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3781425" y="3514725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highlight>
                  <a:srgbClr val="FDF5E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 Chocolates (Bar)</a:t>
            </a:r>
            <a:endParaRPr lang="en-US" sz="800" dirty="0"/>
          </a:p>
        </p:txBody>
      </p:sp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300" y="3790950"/>
            <a:ext cx="1333500" cy="266700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1000125" y="3838575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C2A"/>
                </a:solidFill>
                <a:highlight>
                  <a:srgbClr val="FDF5E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 Stores (Bar)</a:t>
            </a:r>
            <a:endParaRPr lang="en-US" sz="800" dirty="0"/>
          </a:p>
        </p:txBody>
      </p:sp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9875" y="1771650"/>
            <a:ext cx="266700" cy="20955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7134225" y="1724025"/>
            <a:ext cx="2127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View</a:t>
            </a:r>
            <a:endParaRPr lang="en-US" sz="1700" dirty="0"/>
          </a:p>
        </p:txBody>
      </p:sp>
      <p:sp>
        <p:nvSpPr>
          <p:cNvPr id="36" name="Text 14"/>
          <p:cNvSpPr/>
          <p:nvPr/>
        </p:nvSpPr>
        <p:spPr>
          <a:xfrm>
            <a:off x="6715125" y="2333625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Dashboard</a:t>
            </a:r>
            <a:endParaRPr lang="en-US" sz="900" dirty="0"/>
          </a:p>
        </p:txBody>
      </p:sp>
      <p:sp>
        <p:nvSpPr>
          <p:cNvPr id="37" name="Text 15"/>
          <p:cNvSpPr/>
          <p:nvPr/>
        </p:nvSpPr>
        <p:spPr>
          <a:xfrm>
            <a:off x="6715125" y="2562225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Customers | Avg Revenue: 504.8 | Avg Age: 44.0 | Loyalty: 2.535%</a:t>
            </a:r>
            <a:endParaRPr lang="en-US" sz="90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05600" y="2819400"/>
            <a:ext cx="581025" cy="200025"/>
          </a:xfrm>
          <a:prstGeom prst="rect">
            <a:avLst/>
          </a:prstGeom>
        </p:spPr>
      </p:pic>
      <p:sp>
        <p:nvSpPr>
          <p:cNvPr id="39" name="Text 16"/>
          <p:cNvSpPr/>
          <p:nvPr/>
        </p:nvSpPr>
        <p:spPr>
          <a:xfrm>
            <a:off x="6791325" y="2847975"/>
            <a:ext cx="409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Treemap</a:t>
            </a:r>
            <a:endParaRPr lang="en-US" sz="700" dirty="0"/>
          </a:p>
        </p:txBody>
      </p:sp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3775" y="2819400"/>
            <a:ext cx="361950" cy="200025"/>
          </a:xfrm>
          <a:prstGeom prst="rect">
            <a:avLst/>
          </a:prstGeom>
        </p:spPr>
      </p:pic>
      <p:sp>
        <p:nvSpPr>
          <p:cNvPr id="41" name="Text 17"/>
          <p:cNvSpPr/>
          <p:nvPr/>
        </p:nvSpPr>
        <p:spPr>
          <a:xfrm>
            <a:off x="7429500" y="2847975"/>
            <a:ext cx="19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700" dirty="0"/>
          </a:p>
        </p:txBody>
      </p: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62875" y="2819400"/>
            <a:ext cx="333375" cy="200025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7848600" y="2847975"/>
            <a:ext cx="16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700" dirty="0"/>
          </a:p>
        </p:txBody>
      </p:sp>
      <p:pic>
        <p:nvPicPr>
          <p:cNvPr id="44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3400" y="2819400"/>
            <a:ext cx="447675" cy="200025"/>
          </a:xfrm>
          <a:prstGeom prst="rect">
            <a:avLst/>
          </a:prstGeom>
        </p:spPr>
      </p:pic>
      <p:sp>
        <p:nvSpPr>
          <p:cNvPr id="45" name="Text 19"/>
          <p:cNvSpPr/>
          <p:nvPr/>
        </p:nvSpPr>
        <p:spPr>
          <a:xfrm>
            <a:off x="8239125" y="2847975"/>
            <a:ext cx="276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Donut</a:t>
            </a:r>
            <a:endParaRPr lang="en-US" sz="700" dirty="0"/>
          </a:p>
        </p:txBody>
      </p:sp>
      <p:sp>
        <p:nvSpPr>
          <p:cNvPr id="46" name="Text 20"/>
          <p:cNvSpPr/>
          <p:nvPr/>
        </p:nvSpPr>
        <p:spPr>
          <a:xfrm>
            <a:off x="6715125" y="3200400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Dashboard</a:t>
            </a:r>
            <a:endParaRPr lang="en-US" sz="900" dirty="0"/>
          </a:p>
        </p:txBody>
      </p:sp>
      <p:sp>
        <p:nvSpPr>
          <p:cNvPr id="47" name="Text 21"/>
          <p:cNvSpPr/>
          <p:nvPr/>
        </p:nvSpPr>
        <p:spPr>
          <a:xfrm>
            <a:off x="6715125" y="3429000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Stores | 7 Cities | Top: Canada | Avg Store Profit: 10.20</a:t>
            </a:r>
            <a:endParaRPr lang="en-US" sz="900" dirty="0"/>
          </a:p>
        </p:txBody>
      </p:sp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5600" y="3686175"/>
            <a:ext cx="371475" cy="200025"/>
          </a:xfrm>
          <a:prstGeom prst="rect">
            <a:avLst/>
          </a:prstGeom>
        </p:spPr>
      </p:pic>
      <p:sp>
        <p:nvSpPr>
          <p:cNvPr id="49" name="Text 22"/>
          <p:cNvSpPr/>
          <p:nvPr/>
        </p:nvSpPr>
        <p:spPr>
          <a:xfrm>
            <a:off x="6791325" y="3714750"/>
            <a:ext cx="200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700" dirty="0"/>
          </a:p>
        </p:txBody>
      </p:sp>
      <p:pic>
        <p:nvPicPr>
          <p:cNvPr id="50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4225" y="3686175"/>
            <a:ext cx="447675" cy="200025"/>
          </a:xfrm>
          <a:prstGeom prst="rect">
            <a:avLst/>
          </a:prstGeom>
        </p:spPr>
      </p:pic>
      <p:sp>
        <p:nvSpPr>
          <p:cNvPr id="51" name="Text 23"/>
          <p:cNvSpPr/>
          <p:nvPr/>
        </p:nvSpPr>
        <p:spPr>
          <a:xfrm>
            <a:off x="7219950" y="3714750"/>
            <a:ext cx="276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Donut</a:t>
            </a:r>
            <a:endParaRPr lang="en-US" sz="700" dirty="0"/>
          </a:p>
        </p:txBody>
      </p:sp>
      <p:pic>
        <p:nvPicPr>
          <p:cNvPr id="52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39050" y="3686175"/>
            <a:ext cx="581025" cy="200025"/>
          </a:xfrm>
          <a:prstGeom prst="rect">
            <a:avLst/>
          </a:prstGeom>
        </p:spPr>
      </p:pic>
      <p:sp>
        <p:nvSpPr>
          <p:cNvPr id="53" name="Text 24"/>
          <p:cNvSpPr/>
          <p:nvPr/>
        </p:nvSpPr>
        <p:spPr>
          <a:xfrm>
            <a:off x="7724775" y="3714750"/>
            <a:ext cx="409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2314"/>
                </a:solidFill>
                <a:highlight>
                  <a:srgbClr val="E5D3B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Treemap</a:t>
            </a:r>
            <a:endParaRPr lang="en-US" sz="700" dirty="0"/>
          </a:p>
        </p:txBody>
      </p:sp>
      <p:pic>
        <p:nvPicPr>
          <p:cNvPr id="54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5191125"/>
            <a:ext cx="171450" cy="180975"/>
          </a:xfrm>
          <a:prstGeom prst="rect">
            <a:avLst/>
          </a:prstGeom>
        </p:spPr>
      </p:pic>
      <p:sp>
        <p:nvSpPr>
          <p:cNvPr id="55" name="Text 25"/>
          <p:cNvSpPr/>
          <p:nvPr/>
        </p:nvSpPr>
        <p:spPr>
          <a:xfrm>
            <a:off x="1076325" y="5189339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Filters:</a:t>
            </a:r>
            <a:endParaRPr lang="en-US" sz="900" dirty="0"/>
          </a:p>
        </p:txBody>
      </p:sp>
      <p:sp>
        <p:nvSpPr>
          <p:cNvPr id="56" name="Text 26"/>
          <p:cNvSpPr/>
          <p:nvPr/>
        </p:nvSpPr>
        <p:spPr>
          <a:xfrm>
            <a:off x="2905125" y="5189339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00" dirty="0"/>
          </a:p>
        </p:txBody>
      </p:sp>
      <p:sp>
        <p:nvSpPr>
          <p:cNvPr id="57" name="Text 27"/>
          <p:cNvSpPr/>
          <p:nvPr/>
        </p:nvSpPr>
        <p:spPr>
          <a:xfrm>
            <a:off x="3638550" y="5189339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900" dirty="0"/>
          </a:p>
        </p:txBody>
      </p:sp>
      <p:sp>
        <p:nvSpPr>
          <p:cNvPr id="58" name="Text 28"/>
          <p:cNvSpPr/>
          <p:nvPr/>
        </p:nvSpPr>
        <p:spPr>
          <a:xfrm>
            <a:off x="4219575" y="5189339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Type</a:t>
            </a:r>
            <a:endParaRPr lang="en-US" sz="900" dirty="0"/>
          </a:p>
        </p:txBody>
      </p:sp>
      <p:sp>
        <p:nvSpPr>
          <p:cNvPr id="59" name="Text 29"/>
          <p:cNvSpPr/>
          <p:nvPr/>
        </p:nvSpPr>
        <p:spPr>
          <a:xfrm>
            <a:off x="5067300" y="5189339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</a:t>
            </a:r>
            <a:endParaRPr lang="en-US" sz="900" dirty="0"/>
          </a:p>
        </p:txBody>
      </p:sp>
      <p:sp>
        <p:nvSpPr>
          <p:cNvPr id="60" name="Text 30"/>
          <p:cNvSpPr/>
          <p:nvPr/>
        </p:nvSpPr>
        <p:spPr>
          <a:xfrm>
            <a:off x="5743575" y="5189339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900" dirty="0"/>
          </a:p>
        </p:txBody>
      </p:sp>
      <p:sp>
        <p:nvSpPr>
          <p:cNvPr id="61" name="Text 31"/>
          <p:cNvSpPr/>
          <p:nvPr/>
        </p:nvSpPr>
        <p:spPr>
          <a:xfrm>
            <a:off x="6581775" y="5189339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900" dirty="0"/>
          </a:p>
        </p:txBody>
      </p:sp>
      <p:sp>
        <p:nvSpPr>
          <p:cNvPr id="62" name="Text 32"/>
          <p:cNvSpPr/>
          <p:nvPr/>
        </p:nvSpPr>
        <p:spPr>
          <a:xfrm>
            <a:off x="8591550" y="4892278"/>
            <a:ext cx="2724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Public URL</a:t>
            </a:r>
            <a:endParaRPr lang="en-US" sz="800" dirty="0"/>
          </a:p>
        </p:txBody>
      </p:sp>
      <p:sp>
        <p:nvSpPr>
          <p:cNvPr id="63" name="Text 33"/>
          <p:cNvSpPr/>
          <p:nvPr/>
        </p:nvSpPr>
        <p:spPr>
          <a:xfrm>
            <a:off x="8591550" y="5082778"/>
            <a:ext cx="272415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D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https://public.tableau.com/views/Chocolate_Sales_G17/SalesDashboard?:language=en-US&amp;publish=yes&amp;:sid=&amp;:redirect=auth&amp;:display_count=n&amp;:origin=viz_share_link</a:t>
            </a:r>
            <a:endParaRPr lang="en-US" sz="800" dirty="0"/>
          </a:p>
        </p:txBody>
      </p:sp>
      <p:sp>
        <p:nvSpPr>
          <p:cNvPr id="64" name="Text 34"/>
          <p:cNvSpPr/>
          <p:nvPr/>
        </p:nvSpPr>
        <p:spPr>
          <a:xfrm>
            <a:off x="11410950" y="62103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0" y="771525"/>
            <a:ext cx="78105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390650"/>
            <a:ext cx="10687050" cy="4343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400175"/>
            <a:ext cx="10668000" cy="590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71675"/>
            <a:ext cx="10668000" cy="790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743200"/>
            <a:ext cx="10668000" cy="790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514725"/>
            <a:ext cx="10668000" cy="790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286250"/>
            <a:ext cx="10668000" cy="7905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57150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11" name="Text 1"/>
          <p:cNvSpPr/>
          <p:nvPr/>
        </p:nvSpPr>
        <p:spPr>
          <a:xfrm>
            <a:off x="1076325" y="1562100"/>
            <a:ext cx="2868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3944689" y="1562100"/>
            <a:ext cx="4780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8725346" y="1562100"/>
            <a:ext cx="2390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DF5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1076325" y="2171700"/>
            <a:ext cx="27159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55+ age group drives highest revenue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3944689" y="2171700"/>
            <a:ext cx="4628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Targeted marketing campaigns and premium product lines for 55+ demographic</a:t>
            </a:r>
            <a:endParaRPr lang="en-US" sz="900" dirty="0"/>
          </a:p>
        </p:txBody>
      </p:sp>
      <p:sp>
        <p:nvSpPr>
          <p:cNvPr id="16" name="Text 6"/>
          <p:cNvSpPr/>
          <p:nvPr/>
        </p:nvSpPr>
        <p:spPr>
          <a:xfrm>
            <a:off x="8725346" y="2228850"/>
            <a:ext cx="2390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+10–15% </a:t>
            </a: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076325" y="2943225"/>
            <a:ext cx="27159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Airport stores generate 29.87% of revenue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3944689" y="2943225"/>
            <a:ext cx="4628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Prioritize inventory allocation and promotional spend for Airport locations</a:t>
            </a:r>
            <a:endParaRPr lang="en-US" sz="900" dirty="0"/>
          </a:p>
        </p:txBody>
      </p:sp>
      <p:sp>
        <p:nvSpPr>
          <p:cNvPr id="19" name="Text 9"/>
          <p:cNvSpPr/>
          <p:nvPr/>
        </p:nvSpPr>
        <p:spPr>
          <a:xfrm>
            <a:off x="8725346" y="3000375"/>
            <a:ext cx="2390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+5–8% </a:t>
            </a: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1076325" y="3714750"/>
            <a:ext cx="27159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Loyal and non-loyal customers spend equally</a:t>
            </a:r>
            <a:endParaRPr lang="en-US" sz="900" dirty="0"/>
          </a:p>
        </p:txBody>
      </p:sp>
      <p:sp>
        <p:nvSpPr>
          <p:cNvPr id="21" name="Text 11"/>
          <p:cNvSpPr/>
          <p:nvPr/>
        </p:nvSpPr>
        <p:spPr>
          <a:xfrm>
            <a:off x="3944689" y="3714750"/>
            <a:ext cx="4628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Redesign loyalty program with tiered benefits to incentivize repeat purchases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8725346" y="3771900"/>
            <a:ext cx="2390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+15% </a:t>
            </a: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1076325" y="4581525"/>
            <a:ext cx="2715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January revenue peak (seasonal)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3944689" y="4486275"/>
            <a:ext cx="46282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6-week pre-Q1 inventory buffer; negotiate supplier capacity by November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8725346" y="4543425"/>
            <a:ext cx="2390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~3% </a:t>
            </a: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Recovered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1076325" y="5295900"/>
            <a:ext cx="2715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Canada is top-performing country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3944689" y="5295900"/>
            <a:ext cx="46282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premium gifting bundles exclusively in Canadian stores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8725346" y="5257800"/>
            <a:ext cx="23903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+5% </a:t>
            </a: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AOV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62000" y="6096000"/>
            <a:ext cx="441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DVA Capstone Project: Chocolate Sales Performance Analysis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277600" y="609600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275" y="771525"/>
            <a:ext cx="78105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323975"/>
            <a:ext cx="3162300" cy="2838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525" y="1323975"/>
            <a:ext cx="3476625" cy="447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4850" y="1781175"/>
            <a:ext cx="323850" cy="3238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4850" y="2543175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4850" y="3305175"/>
            <a:ext cx="323850" cy="3333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4850" y="3857625"/>
            <a:ext cx="323850" cy="3238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1323975"/>
            <a:ext cx="3476625" cy="4476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7225" y="1781175"/>
            <a:ext cx="31623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225" y="2676525"/>
            <a:ext cx="316230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225" y="3571875"/>
            <a:ext cx="31623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7225" y="4467225"/>
            <a:ext cx="3162300" cy="6477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571500"/>
            <a:ext cx="735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Limitations &amp; Next Steps</a:t>
            </a:r>
            <a:endParaRPr lang="en-US" sz="3400" dirty="0"/>
          </a:p>
        </p:txBody>
      </p:sp>
      <p:sp>
        <p:nvSpPr>
          <p:cNvPr id="16" name="Text 1"/>
          <p:cNvSpPr/>
          <p:nvPr/>
        </p:nvSpPr>
        <p:spPr>
          <a:xfrm>
            <a:off x="962025" y="1533525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&amp; Value</a:t>
            </a:r>
            <a:endParaRPr lang="en-US" sz="1700" dirty="0"/>
          </a:p>
        </p:txBody>
      </p:sp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2019300"/>
            <a:ext cx="171450" cy="17145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1228725" y="1990725"/>
            <a:ext cx="24765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 revenue uplift: 15–25% via targeted segmentation and channel optimization</a:t>
            </a:r>
            <a:endParaRPr lang="en-US" sz="900" dirty="0"/>
          </a:p>
        </p:txBody>
      </p:sp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" y="2781300"/>
            <a:ext cx="190500" cy="18097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1247775" y="2755106"/>
            <a:ext cx="245745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savings: Eliminate underperforming SKUs and optimize inventory</a:t>
            </a:r>
            <a:endParaRPr lang="en-US" sz="900" dirty="0"/>
          </a:p>
        </p:txBody>
      </p:sp>
      <p:pic>
        <p:nvPicPr>
          <p:cNvPr id="21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3543300"/>
            <a:ext cx="152400" cy="180975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1209675" y="3519488"/>
            <a:ext cx="24955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Efficiency: Data-driven promotional budget allocation</a:t>
            </a:r>
            <a:endParaRPr lang="en-US" sz="900" dirty="0"/>
          </a:p>
        </p:txBody>
      </p:sp>
      <p:sp>
        <p:nvSpPr>
          <p:cNvPr id="23" name="Text 5"/>
          <p:cNvSpPr/>
          <p:nvPr/>
        </p:nvSpPr>
        <p:spPr>
          <a:xfrm>
            <a:off x="838200" y="4305300"/>
            <a:ext cx="299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Stakeholder Should Act: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838200" y="4686300"/>
            <a:ext cx="29908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Cost of inaction: Continued suboptimal marketing spend; missed revenue from underserved demographics</a:t>
            </a:r>
            <a:endParaRPr lang="en-US" sz="800" dirty="0"/>
          </a:p>
        </p:txBody>
      </p:sp>
      <p:sp>
        <p:nvSpPr>
          <p:cNvPr id="25" name="Text 7"/>
          <p:cNvSpPr/>
          <p:nvPr/>
        </p:nvSpPr>
        <p:spPr>
          <a:xfrm>
            <a:off x="838200" y="5319713"/>
            <a:ext cx="29908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Competitive advantage: First-mover in targeted 55+ chocolate market</a:t>
            </a:r>
            <a:endParaRPr lang="en-US" sz="800" dirty="0"/>
          </a:p>
        </p:txBody>
      </p:sp>
      <p:sp>
        <p:nvSpPr>
          <p:cNvPr id="26" name="Text 8"/>
          <p:cNvSpPr/>
          <p:nvPr/>
        </p:nvSpPr>
        <p:spPr>
          <a:xfrm>
            <a:off x="4524375" y="1333500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27" name="Text 9"/>
          <p:cNvSpPr/>
          <p:nvPr/>
        </p:nvSpPr>
        <p:spPr>
          <a:xfrm>
            <a:off x="4581525" y="182880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28" name="Text 10"/>
          <p:cNvSpPr/>
          <p:nvPr/>
        </p:nvSpPr>
        <p:spPr>
          <a:xfrm>
            <a:off x="4943475" y="1790700"/>
            <a:ext cx="272415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3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 not specified in dataset (all monetary figures treated as consistent unit)</a:t>
            </a:r>
            <a:endParaRPr lang="en-US" sz="900" dirty="0"/>
          </a:p>
        </p:txBody>
      </p:sp>
      <p:sp>
        <p:nvSpPr>
          <p:cNvPr id="29" name="Text 11"/>
          <p:cNvSpPr/>
          <p:nvPr/>
        </p:nvSpPr>
        <p:spPr>
          <a:xfrm>
            <a:off x="4581525" y="2593181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Text 12"/>
          <p:cNvSpPr/>
          <p:nvPr/>
        </p:nvSpPr>
        <p:spPr>
          <a:xfrm>
            <a:off x="4943475" y="2555081"/>
            <a:ext cx="272415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3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 CustomerID values unmatched — ~X% excluded from customer-segment analysis</a:t>
            </a:r>
            <a:endParaRPr lang="en-US" sz="900" dirty="0"/>
          </a:p>
        </p:txBody>
      </p:sp>
      <p:sp>
        <p:nvSpPr>
          <p:cNvPr id="31" name="Text 13"/>
          <p:cNvSpPr/>
          <p:nvPr/>
        </p:nvSpPr>
        <p:spPr>
          <a:xfrm>
            <a:off x="4581525" y="3357563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14"/>
          <p:cNvSpPr/>
          <p:nvPr/>
        </p:nvSpPr>
        <p:spPr>
          <a:xfrm>
            <a:off x="4943475" y="3319463"/>
            <a:ext cx="27241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3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Amount values (returns) excluded from revenue KPIs</a:t>
            </a:r>
            <a:endParaRPr lang="en-US" sz="900" dirty="0"/>
          </a:p>
        </p:txBody>
      </p:sp>
      <p:sp>
        <p:nvSpPr>
          <p:cNvPr id="33" name="Text 15"/>
          <p:cNvSpPr/>
          <p:nvPr/>
        </p:nvSpPr>
        <p:spPr>
          <a:xfrm>
            <a:off x="4581525" y="390525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16"/>
          <p:cNvSpPr/>
          <p:nvPr/>
        </p:nvSpPr>
        <p:spPr>
          <a:xfrm>
            <a:off x="4943475" y="3867150"/>
            <a:ext cx="27241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31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is simulated retail data, not real-world transactions</a:t>
            </a:r>
            <a:endParaRPr lang="en-US" sz="900" dirty="0"/>
          </a:p>
        </p:txBody>
      </p:sp>
      <p:sp>
        <p:nvSpPr>
          <p:cNvPr id="35" name="Text 17"/>
          <p:cNvSpPr/>
          <p:nvPr/>
        </p:nvSpPr>
        <p:spPr>
          <a:xfrm>
            <a:off x="8286750" y="1333500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36" name="Text 18"/>
          <p:cNvSpPr/>
          <p:nvPr/>
        </p:nvSpPr>
        <p:spPr>
          <a:xfrm>
            <a:off x="8410575" y="19145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Predictive Modeling</a:t>
            </a:r>
            <a:endParaRPr lang="en-US" sz="900" dirty="0"/>
          </a:p>
        </p:txBody>
      </p:sp>
      <p:sp>
        <p:nvSpPr>
          <p:cNvPr id="37" name="Text 19"/>
          <p:cNvSpPr/>
          <p:nvPr/>
        </p:nvSpPr>
        <p:spPr>
          <a:xfrm>
            <a:off x="8410575" y="2143125"/>
            <a:ext cx="289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predictive model for customer lifetime value</a:t>
            </a:r>
            <a:endParaRPr lang="en-US" sz="800" dirty="0"/>
          </a:p>
        </p:txBody>
      </p:sp>
      <p:sp>
        <p:nvSpPr>
          <p:cNvPr id="38" name="Text 20"/>
          <p:cNvSpPr/>
          <p:nvPr/>
        </p:nvSpPr>
        <p:spPr>
          <a:xfrm>
            <a:off x="8410575" y="280987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BI</a:t>
            </a:r>
            <a:endParaRPr lang="en-US" sz="900" dirty="0"/>
          </a:p>
        </p:txBody>
      </p:sp>
      <p:sp>
        <p:nvSpPr>
          <p:cNvPr id="39" name="Text 21"/>
          <p:cNvSpPr/>
          <p:nvPr/>
        </p:nvSpPr>
        <p:spPr>
          <a:xfrm>
            <a:off x="8410575" y="3038475"/>
            <a:ext cx="289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 real-time dashboard for inventory management</a:t>
            </a:r>
            <a:endParaRPr lang="en-US" sz="800" dirty="0"/>
          </a:p>
        </p:txBody>
      </p:sp>
      <p:sp>
        <p:nvSpPr>
          <p:cNvPr id="40" name="Text 22"/>
          <p:cNvSpPr/>
          <p:nvPr/>
        </p:nvSpPr>
        <p:spPr>
          <a:xfrm>
            <a:off x="8410575" y="370522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 Analysis</a:t>
            </a:r>
            <a:endParaRPr lang="en-US" sz="900" dirty="0"/>
          </a:p>
        </p:txBody>
      </p:sp>
      <p:sp>
        <p:nvSpPr>
          <p:cNvPr id="41" name="Text 23"/>
          <p:cNvSpPr/>
          <p:nvPr/>
        </p:nvSpPr>
        <p:spPr>
          <a:xfrm>
            <a:off x="8410575" y="3933825"/>
            <a:ext cx="289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 dataset with actual customer feedback and sentiment data</a:t>
            </a:r>
            <a:endParaRPr lang="en-US" sz="800" dirty="0"/>
          </a:p>
        </p:txBody>
      </p:sp>
      <p:sp>
        <p:nvSpPr>
          <p:cNvPr id="42" name="Text 24"/>
          <p:cNvSpPr/>
          <p:nvPr/>
        </p:nvSpPr>
        <p:spPr>
          <a:xfrm>
            <a:off x="8410575" y="4600575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A/B Testing</a:t>
            </a:r>
            <a:endParaRPr lang="en-US" sz="900" dirty="0"/>
          </a:p>
        </p:txBody>
      </p:sp>
      <p:sp>
        <p:nvSpPr>
          <p:cNvPr id="43" name="Text 25"/>
          <p:cNvSpPr/>
          <p:nvPr/>
        </p:nvSpPr>
        <p:spPr>
          <a:xfrm>
            <a:off x="8410575" y="4829175"/>
            <a:ext cx="2895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3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A/B test loyalty program redesign</a:t>
            </a:r>
            <a:endParaRPr lang="en-US" sz="800" dirty="0"/>
          </a:p>
        </p:txBody>
      </p:sp>
      <p:sp>
        <p:nvSpPr>
          <p:cNvPr id="44" name="Text 26"/>
          <p:cNvSpPr/>
          <p:nvPr/>
        </p:nvSpPr>
        <p:spPr>
          <a:xfrm>
            <a:off x="762000" y="609600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Chocolate Sales Performance Analysis &amp; Business Intelligence</a:t>
            </a:r>
            <a:endParaRPr lang="en-US" sz="900" dirty="0"/>
          </a:p>
        </p:txBody>
      </p:sp>
      <p:sp>
        <p:nvSpPr>
          <p:cNvPr id="45" name="Text 27"/>
          <p:cNvSpPr/>
          <p:nvPr/>
        </p:nvSpPr>
        <p:spPr>
          <a:xfrm>
            <a:off x="11277600" y="609600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3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7715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428750"/>
            <a:ext cx="11068050" cy="384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666875"/>
            <a:ext cx="10591800" cy="638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5553075"/>
            <a:ext cx="3924300" cy="5810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676900"/>
            <a:ext cx="323850" cy="3333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71500" y="571500"/>
            <a:ext cx="623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Contribution Matrix</a:t>
            </a:r>
            <a:endParaRPr lang="en-US" sz="34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666875"/>
            <a:ext cx="1333500" cy="63817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885825" y="1797844"/>
            <a:ext cx="11574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5025" y="1666875"/>
            <a:ext cx="1533525" cy="63817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2195661" y="1797844"/>
            <a:ext cx="13489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&amp; Sourcing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9975" y="1666875"/>
            <a:ext cx="1257300" cy="638175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3697039" y="1797844"/>
            <a:ext cx="10836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 &amp; Cleaning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8700" y="1666875"/>
            <a:ext cx="1266825" cy="638175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4933057" y="1797844"/>
            <a:ext cx="10836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&amp; Analysis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6950" y="1666875"/>
            <a:ext cx="1724025" cy="638175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6169075" y="1797844"/>
            <a:ext cx="1539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Statistical Analysis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0" y="1666875"/>
            <a:ext cx="1485900" cy="638175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7861250" y="1797844"/>
            <a:ext cx="13020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Dashboard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9725" y="1666875"/>
            <a:ext cx="1238250" cy="638175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9315748" y="1797844"/>
            <a:ext cx="1064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Writing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39400" y="1666875"/>
            <a:ext cx="952500" cy="638175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10532418" y="1797844"/>
            <a:ext cx="7737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2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 &amp; Viva</a:t>
            </a:r>
            <a:endParaRPr lang="en-US" sz="900" dirty="0">
              <a:solidFill>
                <a:srgbClr val="4A2B2A"/>
              </a:solidFill>
            </a:endParaRPr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2276475"/>
            <a:ext cx="1333500" cy="45720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885825" y="2407444"/>
            <a:ext cx="115743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Yashkumar Nimje</a:t>
            </a:r>
            <a:endParaRPr lang="en-US" sz="900" dirty="0"/>
          </a:p>
        </p:txBody>
      </p:sp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5025" y="2276475"/>
            <a:ext cx="1533525" cy="457200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2195661" y="2407444"/>
            <a:ext cx="13489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9975" y="2276475"/>
            <a:ext cx="1257300" cy="45720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3697039" y="2407444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8700" y="2276475"/>
            <a:ext cx="1266825" cy="457200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4933057" y="2407444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76950" y="2276475"/>
            <a:ext cx="1724025" cy="45720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6169075" y="2407444"/>
            <a:ext cx="15397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36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72400" y="2276475"/>
            <a:ext cx="1485900" cy="457200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7861250" y="2407444"/>
            <a:ext cx="13020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29725" y="2276475"/>
            <a:ext cx="1238250" cy="457200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9315748" y="2407444"/>
            <a:ext cx="10642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39400" y="2276475"/>
            <a:ext cx="952500" cy="457200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10532418" y="2407444"/>
            <a:ext cx="7737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42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2705100"/>
            <a:ext cx="1333500" cy="447675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885825" y="2831306"/>
            <a:ext cx="115743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Shane Joseph</a:t>
            </a:r>
            <a:endParaRPr lang="en-US" sz="900" dirty="0"/>
          </a:p>
        </p:txBody>
      </p:sp>
      <p:pic>
        <p:nvPicPr>
          <p:cNvPr id="44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05025" y="2705100"/>
            <a:ext cx="1533525" cy="447675"/>
          </a:xfrm>
          <a:prstGeom prst="rect">
            <a:avLst/>
          </a:prstGeom>
        </p:spPr>
      </p:pic>
      <p:sp>
        <p:nvSpPr>
          <p:cNvPr id="45" name="Text 18"/>
          <p:cNvSpPr/>
          <p:nvPr/>
        </p:nvSpPr>
        <p:spPr>
          <a:xfrm>
            <a:off x="2195661" y="2831306"/>
            <a:ext cx="13489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46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09975" y="2705100"/>
            <a:ext cx="1257300" cy="447675"/>
          </a:xfrm>
          <a:prstGeom prst="rect">
            <a:avLst/>
          </a:prstGeom>
        </p:spPr>
      </p:pic>
      <p:sp>
        <p:nvSpPr>
          <p:cNvPr id="47" name="Text 19"/>
          <p:cNvSpPr/>
          <p:nvPr/>
        </p:nvSpPr>
        <p:spPr>
          <a:xfrm>
            <a:off x="3697039" y="2831306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4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38700" y="2705100"/>
            <a:ext cx="1266825" cy="447675"/>
          </a:xfrm>
          <a:prstGeom prst="rect">
            <a:avLst/>
          </a:prstGeom>
        </p:spPr>
      </p:pic>
      <p:sp>
        <p:nvSpPr>
          <p:cNvPr id="49" name="Text 20"/>
          <p:cNvSpPr/>
          <p:nvPr/>
        </p:nvSpPr>
        <p:spPr>
          <a:xfrm>
            <a:off x="4933057" y="2831306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50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76950" y="2705100"/>
            <a:ext cx="1724025" cy="447675"/>
          </a:xfrm>
          <a:prstGeom prst="rect">
            <a:avLst/>
          </a:prstGeom>
        </p:spPr>
      </p:pic>
      <p:sp>
        <p:nvSpPr>
          <p:cNvPr id="51" name="Text 21"/>
          <p:cNvSpPr/>
          <p:nvPr/>
        </p:nvSpPr>
        <p:spPr>
          <a:xfrm>
            <a:off x="6169075" y="2831306"/>
            <a:ext cx="15397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52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72400" y="2705100"/>
            <a:ext cx="1485900" cy="447675"/>
          </a:xfrm>
          <a:prstGeom prst="rect">
            <a:avLst/>
          </a:prstGeom>
        </p:spPr>
      </p:pic>
      <p:sp>
        <p:nvSpPr>
          <p:cNvPr id="53" name="Text 22"/>
          <p:cNvSpPr/>
          <p:nvPr/>
        </p:nvSpPr>
        <p:spPr>
          <a:xfrm>
            <a:off x="7861250" y="2831306"/>
            <a:ext cx="13020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54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29725" y="2705100"/>
            <a:ext cx="1238250" cy="447675"/>
          </a:xfrm>
          <a:prstGeom prst="rect">
            <a:avLst/>
          </a:prstGeom>
        </p:spPr>
      </p:pic>
      <p:sp>
        <p:nvSpPr>
          <p:cNvPr id="55" name="Text 23"/>
          <p:cNvSpPr/>
          <p:nvPr/>
        </p:nvSpPr>
        <p:spPr>
          <a:xfrm>
            <a:off x="9315748" y="2831306"/>
            <a:ext cx="10642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56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39400" y="2705100"/>
            <a:ext cx="952500" cy="447675"/>
          </a:xfrm>
          <a:prstGeom prst="rect">
            <a:avLst/>
          </a:prstGeom>
        </p:spPr>
      </p:pic>
      <p:sp>
        <p:nvSpPr>
          <p:cNvPr id="57" name="Text 24"/>
          <p:cNvSpPr/>
          <p:nvPr/>
        </p:nvSpPr>
        <p:spPr>
          <a:xfrm>
            <a:off x="10532418" y="2831306"/>
            <a:ext cx="7737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124200"/>
            <a:ext cx="1333500" cy="457200"/>
          </a:xfrm>
          <a:prstGeom prst="rect">
            <a:avLst/>
          </a:prstGeom>
        </p:spPr>
      </p:pic>
      <p:sp>
        <p:nvSpPr>
          <p:cNvPr id="59" name="Text 25"/>
          <p:cNvSpPr/>
          <p:nvPr/>
        </p:nvSpPr>
        <p:spPr>
          <a:xfrm>
            <a:off x="885825" y="3255169"/>
            <a:ext cx="115743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⁠Manpreet Singh</a:t>
            </a:r>
            <a:endParaRPr lang="en-US" sz="900" dirty="0"/>
          </a:p>
        </p:txBody>
      </p:sp>
      <p:pic>
        <p:nvPicPr>
          <p:cNvPr id="60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5025" y="3124200"/>
            <a:ext cx="1533525" cy="457200"/>
          </a:xfrm>
          <a:prstGeom prst="rect">
            <a:avLst/>
          </a:prstGeom>
        </p:spPr>
      </p:pic>
      <p:sp>
        <p:nvSpPr>
          <p:cNvPr id="61" name="Text 26"/>
          <p:cNvSpPr/>
          <p:nvPr/>
        </p:nvSpPr>
        <p:spPr>
          <a:xfrm>
            <a:off x="2195661" y="3255169"/>
            <a:ext cx="13489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62" name="Image 3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9975" y="3124200"/>
            <a:ext cx="1257300" cy="457200"/>
          </a:xfrm>
          <a:prstGeom prst="rect">
            <a:avLst/>
          </a:prstGeom>
        </p:spPr>
      </p:pic>
      <p:sp>
        <p:nvSpPr>
          <p:cNvPr id="63" name="Text 27"/>
          <p:cNvSpPr/>
          <p:nvPr/>
        </p:nvSpPr>
        <p:spPr>
          <a:xfrm>
            <a:off x="3697039" y="3255169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64" name="Image 3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8700" y="3124200"/>
            <a:ext cx="1266825" cy="457200"/>
          </a:xfrm>
          <a:prstGeom prst="rect">
            <a:avLst/>
          </a:prstGeom>
        </p:spPr>
      </p:pic>
      <p:sp>
        <p:nvSpPr>
          <p:cNvPr id="65" name="Text 28"/>
          <p:cNvSpPr/>
          <p:nvPr/>
        </p:nvSpPr>
        <p:spPr>
          <a:xfrm>
            <a:off x="4933057" y="3255169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66" name="Image 3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76950" y="3124200"/>
            <a:ext cx="1724025" cy="457200"/>
          </a:xfrm>
          <a:prstGeom prst="rect">
            <a:avLst/>
          </a:prstGeom>
        </p:spPr>
      </p:pic>
      <p:sp>
        <p:nvSpPr>
          <p:cNvPr id="67" name="Text 29"/>
          <p:cNvSpPr/>
          <p:nvPr/>
        </p:nvSpPr>
        <p:spPr>
          <a:xfrm>
            <a:off x="6169075" y="3255169"/>
            <a:ext cx="15397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68" name="Image 3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72400" y="3124200"/>
            <a:ext cx="1485900" cy="457200"/>
          </a:xfrm>
          <a:prstGeom prst="rect">
            <a:avLst/>
          </a:prstGeom>
        </p:spPr>
      </p:pic>
      <p:sp>
        <p:nvSpPr>
          <p:cNvPr id="69" name="Text 30"/>
          <p:cNvSpPr/>
          <p:nvPr/>
        </p:nvSpPr>
        <p:spPr>
          <a:xfrm>
            <a:off x="7861250" y="3255169"/>
            <a:ext cx="13020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29725" y="3124200"/>
            <a:ext cx="1238250" cy="457200"/>
          </a:xfrm>
          <a:prstGeom prst="rect">
            <a:avLst/>
          </a:prstGeom>
        </p:spPr>
      </p:pic>
      <p:sp>
        <p:nvSpPr>
          <p:cNvPr id="71" name="Text 31"/>
          <p:cNvSpPr/>
          <p:nvPr/>
        </p:nvSpPr>
        <p:spPr>
          <a:xfrm>
            <a:off x="9315748" y="3255169"/>
            <a:ext cx="10642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72" name="Image 3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39400" y="3124200"/>
            <a:ext cx="952500" cy="457200"/>
          </a:xfrm>
          <a:prstGeom prst="rect">
            <a:avLst/>
          </a:prstGeom>
        </p:spPr>
      </p:pic>
      <p:sp>
        <p:nvSpPr>
          <p:cNvPr id="73" name="Text 32"/>
          <p:cNvSpPr/>
          <p:nvPr/>
        </p:nvSpPr>
        <p:spPr>
          <a:xfrm>
            <a:off x="10532418" y="3255169"/>
            <a:ext cx="7737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74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00100" y="3552825"/>
            <a:ext cx="1333500" cy="638175"/>
          </a:xfrm>
          <a:prstGeom prst="rect">
            <a:avLst/>
          </a:prstGeom>
        </p:spPr>
      </p:pic>
      <p:sp>
        <p:nvSpPr>
          <p:cNvPr id="75" name="Text 33"/>
          <p:cNvSpPr/>
          <p:nvPr/>
        </p:nvSpPr>
        <p:spPr>
          <a:xfrm>
            <a:off x="885825" y="3679031"/>
            <a:ext cx="11574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Shivansh Upadhyay</a:t>
            </a:r>
            <a:endParaRPr lang="en-US" sz="900" dirty="0"/>
          </a:p>
        </p:txBody>
      </p:sp>
      <p:pic>
        <p:nvPicPr>
          <p:cNvPr id="76" name="Image 4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05025" y="3552825"/>
            <a:ext cx="1533525" cy="638175"/>
          </a:xfrm>
          <a:prstGeom prst="rect">
            <a:avLst/>
          </a:prstGeom>
        </p:spPr>
      </p:pic>
      <p:sp>
        <p:nvSpPr>
          <p:cNvPr id="77" name="Text 34"/>
          <p:cNvSpPr/>
          <p:nvPr/>
        </p:nvSpPr>
        <p:spPr>
          <a:xfrm>
            <a:off x="2195661" y="3679031"/>
            <a:ext cx="13489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78" name="Image 41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609975" y="3552825"/>
            <a:ext cx="1257300" cy="638175"/>
          </a:xfrm>
          <a:prstGeom prst="rect">
            <a:avLst/>
          </a:prstGeom>
        </p:spPr>
      </p:pic>
      <p:sp>
        <p:nvSpPr>
          <p:cNvPr id="79" name="Text 35"/>
          <p:cNvSpPr/>
          <p:nvPr/>
        </p:nvSpPr>
        <p:spPr>
          <a:xfrm>
            <a:off x="3697039" y="3679031"/>
            <a:ext cx="10836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80" name="Image 42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838700" y="3552825"/>
            <a:ext cx="1266825" cy="638175"/>
          </a:xfrm>
          <a:prstGeom prst="rect">
            <a:avLst/>
          </a:prstGeom>
        </p:spPr>
      </p:pic>
      <p:sp>
        <p:nvSpPr>
          <p:cNvPr id="81" name="Text 36"/>
          <p:cNvSpPr/>
          <p:nvPr/>
        </p:nvSpPr>
        <p:spPr>
          <a:xfrm>
            <a:off x="4933057" y="3679031"/>
            <a:ext cx="10836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82" name="Image 43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076950" y="3552825"/>
            <a:ext cx="1724025" cy="638175"/>
          </a:xfrm>
          <a:prstGeom prst="rect">
            <a:avLst/>
          </a:prstGeom>
        </p:spPr>
      </p:pic>
      <p:sp>
        <p:nvSpPr>
          <p:cNvPr id="83" name="Text 37"/>
          <p:cNvSpPr/>
          <p:nvPr/>
        </p:nvSpPr>
        <p:spPr>
          <a:xfrm>
            <a:off x="6169075" y="3679031"/>
            <a:ext cx="1539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84" name="Image 4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72400" y="3552825"/>
            <a:ext cx="1485900" cy="638175"/>
          </a:xfrm>
          <a:prstGeom prst="rect">
            <a:avLst/>
          </a:prstGeom>
        </p:spPr>
      </p:pic>
      <p:sp>
        <p:nvSpPr>
          <p:cNvPr id="85" name="Text 38"/>
          <p:cNvSpPr/>
          <p:nvPr/>
        </p:nvSpPr>
        <p:spPr>
          <a:xfrm>
            <a:off x="7861250" y="3679031"/>
            <a:ext cx="13020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86" name="Image 4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229725" y="3552825"/>
            <a:ext cx="1238250" cy="638175"/>
          </a:xfrm>
          <a:prstGeom prst="rect">
            <a:avLst/>
          </a:prstGeom>
        </p:spPr>
      </p:pic>
      <p:sp>
        <p:nvSpPr>
          <p:cNvPr id="87" name="Text 39"/>
          <p:cNvSpPr/>
          <p:nvPr/>
        </p:nvSpPr>
        <p:spPr>
          <a:xfrm>
            <a:off x="9315748" y="3679031"/>
            <a:ext cx="1064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88" name="Image 46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439400" y="3552825"/>
            <a:ext cx="952500" cy="638175"/>
          </a:xfrm>
          <a:prstGeom prst="rect">
            <a:avLst/>
          </a:prstGeom>
        </p:spPr>
      </p:pic>
      <p:sp>
        <p:nvSpPr>
          <p:cNvPr id="89" name="Text 40"/>
          <p:cNvSpPr/>
          <p:nvPr/>
        </p:nvSpPr>
        <p:spPr>
          <a:xfrm>
            <a:off x="10532418" y="3679031"/>
            <a:ext cx="7737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90" name="Image 4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4162425"/>
            <a:ext cx="1333500" cy="447675"/>
          </a:xfrm>
          <a:prstGeom prst="rect">
            <a:avLst/>
          </a:prstGeom>
        </p:spPr>
      </p:pic>
      <p:sp>
        <p:nvSpPr>
          <p:cNvPr id="91" name="Text 41"/>
          <p:cNvSpPr/>
          <p:nvPr/>
        </p:nvSpPr>
        <p:spPr>
          <a:xfrm>
            <a:off x="885825" y="4288631"/>
            <a:ext cx="115743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Saksham Narotra</a:t>
            </a:r>
            <a:endParaRPr lang="en-US" sz="900" dirty="0"/>
          </a:p>
        </p:txBody>
      </p:sp>
      <p:pic>
        <p:nvPicPr>
          <p:cNvPr id="92" name="Image 4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05025" y="4162425"/>
            <a:ext cx="1533525" cy="447675"/>
          </a:xfrm>
          <a:prstGeom prst="rect">
            <a:avLst/>
          </a:prstGeom>
        </p:spPr>
      </p:pic>
      <p:sp>
        <p:nvSpPr>
          <p:cNvPr id="93" name="Text 42"/>
          <p:cNvSpPr/>
          <p:nvPr/>
        </p:nvSpPr>
        <p:spPr>
          <a:xfrm>
            <a:off x="2195661" y="4288631"/>
            <a:ext cx="13489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94" name="Image 4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09975" y="4162425"/>
            <a:ext cx="1257300" cy="447675"/>
          </a:xfrm>
          <a:prstGeom prst="rect">
            <a:avLst/>
          </a:prstGeom>
        </p:spPr>
      </p:pic>
      <p:sp>
        <p:nvSpPr>
          <p:cNvPr id="95" name="Text 43"/>
          <p:cNvSpPr/>
          <p:nvPr/>
        </p:nvSpPr>
        <p:spPr>
          <a:xfrm>
            <a:off x="3697039" y="4288631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96" name="Image 5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38700" y="4162425"/>
            <a:ext cx="1266825" cy="447675"/>
          </a:xfrm>
          <a:prstGeom prst="rect">
            <a:avLst/>
          </a:prstGeom>
        </p:spPr>
      </p:pic>
      <p:sp>
        <p:nvSpPr>
          <p:cNvPr id="97" name="Text 44"/>
          <p:cNvSpPr/>
          <p:nvPr/>
        </p:nvSpPr>
        <p:spPr>
          <a:xfrm>
            <a:off x="4933057" y="4288631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98" name="Image 5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76950" y="4162425"/>
            <a:ext cx="1724025" cy="447675"/>
          </a:xfrm>
          <a:prstGeom prst="rect">
            <a:avLst/>
          </a:prstGeom>
        </p:spPr>
      </p:pic>
      <p:sp>
        <p:nvSpPr>
          <p:cNvPr id="99" name="Text 45"/>
          <p:cNvSpPr/>
          <p:nvPr/>
        </p:nvSpPr>
        <p:spPr>
          <a:xfrm>
            <a:off x="6169075" y="4288631"/>
            <a:ext cx="15397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00" name="Image 5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72400" y="4162425"/>
            <a:ext cx="1485900" cy="447675"/>
          </a:xfrm>
          <a:prstGeom prst="rect">
            <a:avLst/>
          </a:prstGeom>
        </p:spPr>
      </p:pic>
      <p:sp>
        <p:nvSpPr>
          <p:cNvPr id="101" name="Text 46"/>
          <p:cNvSpPr/>
          <p:nvPr/>
        </p:nvSpPr>
        <p:spPr>
          <a:xfrm>
            <a:off x="7861250" y="4288631"/>
            <a:ext cx="13020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02" name="Image 5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29725" y="4162425"/>
            <a:ext cx="1238250" cy="447675"/>
          </a:xfrm>
          <a:prstGeom prst="rect">
            <a:avLst/>
          </a:prstGeom>
        </p:spPr>
      </p:pic>
      <p:sp>
        <p:nvSpPr>
          <p:cNvPr id="103" name="Text 47"/>
          <p:cNvSpPr/>
          <p:nvPr/>
        </p:nvSpPr>
        <p:spPr>
          <a:xfrm>
            <a:off x="9315748" y="4288631"/>
            <a:ext cx="10642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104" name="Image 5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39400" y="4162425"/>
            <a:ext cx="952500" cy="447675"/>
          </a:xfrm>
          <a:prstGeom prst="rect">
            <a:avLst/>
          </a:prstGeom>
        </p:spPr>
      </p:pic>
      <p:sp>
        <p:nvSpPr>
          <p:cNvPr id="105" name="Text 48"/>
          <p:cNvSpPr/>
          <p:nvPr/>
        </p:nvSpPr>
        <p:spPr>
          <a:xfrm>
            <a:off x="10532418" y="4288631"/>
            <a:ext cx="7737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106" name="Image 5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4581525"/>
            <a:ext cx="1333500" cy="457200"/>
          </a:xfrm>
          <a:prstGeom prst="rect">
            <a:avLst/>
          </a:prstGeom>
        </p:spPr>
      </p:pic>
      <p:sp>
        <p:nvSpPr>
          <p:cNvPr id="107" name="Text 49"/>
          <p:cNvSpPr/>
          <p:nvPr/>
        </p:nvSpPr>
        <p:spPr>
          <a:xfrm>
            <a:off x="885825" y="4712494"/>
            <a:ext cx="115743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Ashar Shaikh</a:t>
            </a:r>
            <a:endParaRPr lang="en-US" sz="900" dirty="0"/>
          </a:p>
        </p:txBody>
      </p:sp>
      <p:pic>
        <p:nvPicPr>
          <p:cNvPr id="108" name="Image 5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5025" y="4581525"/>
            <a:ext cx="1533525" cy="457200"/>
          </a:xfrm>
          <a:prstGeom prst="rect">
            <a:avLst/>
          </a:prstGeom>
        </p:spPr>
      </p:pic>
      <p:sp>
        <p:nvSpPr>
          <p:cNvPr id="109" name="Text 50"/>
          <p:cNvSpPr/>
          <p:nvPr/>
        </p:nvSpPr>
        <p:spPr>
          <a:xfrm>
            <a:off x="2195661" y="4712494"/>
            <a:ext cx="13489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10" name="Image 5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9975" y="4581525"/>
            <a:ext cx="1257300" cy="457200"/>
          </a:xfrm>
          <a:prstGeom prst="rect">
            <a:avLst/>
          </a:prstGeom>
        </p:spPr>
      </p:pic>
      <p:sp>
        <p:nvSpPr>
          <p:cNvPr id="111" name="Text 51"/>
          <p:cNvSpPr/>
          <p:nvPr/>
        </p:nvSpPr>
        <p:spPr>
          <a:xfrm>
            <a:off x="3697039" y="4712494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12" name="Image 5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8700" y="4581525"/>
            <a:ext cx="1266825" cy="457200"/>
          </a:xfrm>
          <a:prstGeom prst="rect">
            <a:avLst/>
          </a:prstGeom>
        </p:spPr>
      </p:pic>
      <p:sp>
        <p:nvSpPr>
          <p:cNvPr id="113" name="Text 52"/>
          <p:cNvSpPr/>
          <p:nvPr/>
        </p:nvSpPr>
        <p:spPr>
          <a:xfrm>
            <a:off x="4933057" y="4712494"/>
            <a:ext cx="108361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14" name="Image 5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76950" y="4581525"/>
            <a:ext cx="1724025" cy="457200"/>
          </a:xfrm>
          <a:prstGeom prst="rect">
            <a:avLst/>
          </a:prstGeom>
        </p:spPr>
      </p:pic>
      <p:sp>
        <p:nvSpPr>
          <p:cNvPr id="115" name="Text 53"/>
          <p:cNvSpPr/>
          <p:nvPr/>
        </p:nvSpPr>
        <p:spPr>
          <a:xfrm>
            <a:off x="6169075" y="4712494"/>
            <a:ext cx="15397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16" name="Image 6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72400" y="4581525"/>
            <a:ext cx="1485900" cy="457200"/>
          </a:xfrm>
          <a:prstGeom prst="rect">
            <a:avLst/>
          </a:prstGeom>
        </p:spPr>
      </p:pic>
      <p:sp>
        <p:nvSpPr>
          <p:cNvPr id="117" name="Text 54"/>
          <p:cNvSpPr/>
          <p:nvPr/>
        </p:nvSpPr>
        <p:spPr>
          <a:xfrm>
            <a:off x="7861250" y="4712494"/>
            <a:ext cx="130209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18" name="Image 6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29725" y="4581525"/>
            <a:ext cx="1238250" cy="457200"/>
          </a:xfrm>
          <a:prstGeom prst="rect">
            <a:avLst/>
          </a:prstGeom>
        </p:spPr>
      </p:pic>
      <p:sp>
        <p:nvSpPr>
          <p:cNvPr id="119" name="Text 55"/>
          <p:cNvSpPr/>
          <p:nvPr/>
        </p:nvSpPr>
        <p:spPr>
          <a:xfrm>
            <a:off x="9315748" y="4712494"/>
            <a:ext cx="106427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</a:t>
            </a:r>
            <a:endParaRPr lang="en-US" sz="700" dirty="0"/>
          </a:p>
        </p:txBody>
      </p:sp>
      <p:pic>
        <p:nvPicPr>
          <p:cNvPr id="120" name="Image 6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39400" y="4581525"/>
            <a:ext cx="952500" cy="457200"/>
          </a:xfrm>
          <a:prstGeom prst="rect">
            <a:avLst/>
          </a:prstGeom>
        </p:spPr>
      </p:pic>
      <p:sp>
        <p:nvSpPr>
          <p:cNvPr id="121" name="Text 56"/>
          <p:cNvSpPr/>
          <p:nvPr/>
        </p:nvSpPr>
        <p:spPr>
          <a:xfrm>
            <a:off x="10532418" y="4712494"/>
            <a:ext cx="77375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5E6"/>
                </a:solidFill>
                <a:highlight>
                  <a:srgbClr val="4A2C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00" dirty="0"/>
          </a:p>
        </p:txBody>
      </p:sp>
      <p:pic>
        <p:nvPicPr>
          <p:cNvPr id="122" name="Image 63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76300" y="5753100"/>
            <a:ext cx="171450" cy="180975"/>
          </a:xfrm>
          <a:prstGeom prst="rect">
            <a:avLst/>
          </a:prstGeom>
        </p:spPr>
      </p:pic>
      <p:sp>
        <p:nvSpPr>
          <p:cNvPr id="123" name="Text 57"/>
          <p:cNvSpPr/>
          <p:nvPr/>
        </p:nvSpPr>
        <p:spPr>
          <a:xfrm>
            <a:off x="1266825" y="5745956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contribution history as evidence</a:t>
            </a:r>
            <a:endParaRPr lang="en-US" sz="900" dirty="0"/>
          </a:p>
        </p:txBody>
      </p:sp>
      <p:sp>
        <p:nvSpPr>
          <p:cNvPr id="124" name="Text 58"/>
          <p:cNvSpPr/>
          <p:nvPr/>
        </p:nvSpPr>
        <p:spPr>
          <a:xfrm>
            <a:off x="571500" y="6381750"/>
            <a:ext cx="1104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582400" y="636270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4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75" y="3695700"/>
            <a:ext cx="1238250" cy="762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826544" y="2219325"/>
            <a:ext cx="6538913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900" dirty="0"/>
          </a:p>
        </p:txBody>
      </p:sp>
      <p:sp>
        <p:nvSpPr>
          <p:cNvPr id="8" name="Text 2"/>
          <p:cNvSpPr/>
          <p:nvPr/>
        </p:nvSpPr>
        <p:spPr>
          <a:xfrm>
            <a:off x="2826544" y="4067175"/>
            <a:ext cx="65389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A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1262</Words>
  <Application>Microsoft Macintosh PowerPoint</Application>
  <PresentationFormat>Widescreen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YASHKUMAR KANCHAN NIMJE</cp:lastModifiedBy>
  <cp:revision>3</cp:revision>
  <dcterms:created xsi:type="dcterms:W3CDTF">2026-04-29T17:33:47Z</dcterms:created>
  <dcterms:modified xsi:type="dcterms:W3CDTF">2026-04-29T17:46:17Z</dcterms:modified>
</cp:coreProperties>
</file>